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82" r:id="rId6"/>
    <p:sldId id="261" r:id="rId7"/>
    <p:sldId id="262" r:id="rId8"/>
    <p:sldId id="263" r:id="rId9"/>
    <p:sldId id="264" r:id="rId10"/>
    <p:sldId id="266" r:id="rId11"/>
    <p:sldId id="267" r:id="rId12"/>
    <p:sldId id="283" r:id="rId13"/>
    <p:sldId id="290" r:id="rId14"/>
    <p:sldId id="270" r:id="rId15"/>
    <p:sldId id="271" r:id="rId16"/>
    <p:sldId id="272" r:id="rId17"/>
    <p:sldId id="273" r:id="rId18"/>
    <p:sldId id="274" r:id="rId19"/>
    <p:sldId id="275" r:id="rId20"/>
    <p:sldId id="294" r:id="rId21"/>
    <p:sldId id="284" r:id="rId22"/>
    <p:sldId id="293" r:id="rId23"/>
    <p:sldId id="285" r:id="rId24"/>
    <p:sldId id="286" r:id="rId25"/>
    <p:sldId id="287" r:id="rId26"/>
    <p:sldId id="295" r:id="rId2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A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033B7-BD6F-A853-6089-3A8D16788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C89B02-E0A4-7100-EC21-C428EF433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EEE60-D1F1-7284-B1B0-0D661FAAF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4F9D-22AB-4FB6-83AB-39898B103E03}" type="datetimeFigureOut">
              <a:rPr lang="en-PK" smtClean="0"/>
              <a:t>18/02/2025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661B4-4AFF-2170-92FE-BA360EE06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BBF99-57C9-3F74-FECA-D0B60B24E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0D2FE-2C87-4B78-8235-C23A3CBE4C4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725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8C899-A997-7057-607C-90213DB4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06F96-4A9D-03B2-2C87-BD845511B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D2DDD-70E1-2EA7-EAEE-723C2E52C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4F9D-22AB-4FB6-83AB-39898B103E03}" type="datetimeFigureOut">
              <a:rPr lang="en-PK" smtClean="0"/>
              <a:t>18/02/2025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52770-3C85-34F4-F6A3-2F3B5774E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5C9D1-5D9E-799B-AB7C-39598C7B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0D2FE-2C87-4B78-8235-C23A3CBE4C4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9160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59FED-AC99-E026-BD34-0F257E75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03045-CF46-C3EA-D637-0FCDC08BE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66F08-2C54-1C51-AA83-BF3EBC89C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4F9D-22AB-4FB6-83AB-39898B103E03}" type="datetimeFigureOut">
              <a:rPr lang="en-PK" smtClean="0"/>
              <a:t>18/02/2025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2B3F5-6BCB-6394-71C1-D597D2368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F4725-BB2D-2335-E121-BFC09E08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0D2FE-2C87-4B78-8235-C23A3CBE4C4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03771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8BB0A-0E92-8635-49EB-FA4E5C4D6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69AE3-78F3-835B-AA0A-8F2E9CB73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56B6D-FF9A-F9CD-0F0D-56CC4BF6A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836E1-9632-D3E1-FF68-2BB7CECE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4F9D-22AB-4FB6-83AB-39898B103E03}" type="datetimeFigureOut">
              <a:rPr lang="en-PK" smtClean="0"/>
              <a:t>18/02/2025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2D186-2D53-CDE4-83E0-30A202693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F71DE-BEEA-6E26-574E-8F170B68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0D2FE-2C87-4B78-8235-C23A3CBE4C4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6073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5CF5D-1562-9FE6-64B0-1CC8ABEEF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5BAF3-AC12-AC02-994A-7BEB15EA8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A18BC-E5A7-6B75-C56E-5E4BAE5D7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FBDD8-CE71-AB95-B8E0-2F8FAC142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AB7892-191C-1E60-C943-1107F379B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C9CCCA-DB14-E598-8F7B-7493CEFD3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4F9D-22AB-4FB6-83AB-39898B103E03}" type="datetimeFigureOut">
              <a:rPr lang="en-PK" smtClean="0"/>
              <a:t>18/02/2025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48B986-1D3B-90A0-2445-527AA4D52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DF37C8-C5D5-FF75-C35D-F5A369296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0D2FE-2C87-4B78-8235-C23A3CBE4C4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0929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66C45-AE48-89F9-41F3-09C1588B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1C4038-BBC3-599A-C4CF-97F38603B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4F9D-22AB-4FB6-83AB-39898B103E03}" type="datetimeFigureOut">
              <a:rPr lang="en-PK" smtClean="0"/>
              <a:t>18/02/2025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76810-E9F7-3D8D-123A-1E6A2E64B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83634-8161-8710-C738-D7887A15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0D2FE-2C87-4B78-8235-C23A3CBE4C4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13917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48E7FA-C4FF-603F-C636-30F65F063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4F9D-22AB-4FB6-83AB-39898B103E03}" type="datetimeFigureOut">
              <a:rPr lang="en-PK" smtClean="0"/>
              <a:t>18/02/2025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91F7E1-47A7-D134-34FE-58923D2E6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71E2A-69B8-1861-58AD-2C050921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0D2FE-2C87-4B78-8235-C23A3CBE4C4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0496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7AD3B-ABD1-124D-D4F7-CD6C91BB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4ED2C-D3B5-7940-6FD2-1A32E711C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C505B-1BE8-474C-621F-B48DD6962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8A54E-A682-F278-4E1F-A818D74C0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4F9D-22AB-4FB6-83AB-39898B103E03}" type="datetimeFigureOut">
              <a:rPr lang="en-PK" smtClean="0"/>
              <a:t>18/02/2025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08DC6-CF4B-3450-8501-6EE8517B4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17E86-2CF8-E9DC-8DE7-E39C6A399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0D2FE-2C87-4B78-8235-C23A3CBE4C4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6356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DB8A-13CE-B747-D9D1-F10F7A63A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68B825-52E1-CA59-9287-6A589F1C6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B883AB-1D00-7A52-31D7-A5777D502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3FCCF-661C-6056-579A-D47EB76B1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4F9D-22AB-4FB6-83AB-39898B103E03}" type="datetimeFigureOut">
              <a:rPr lang="en-PK" smtClean="0"/>
              <a:t>18/02/2025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B64D1-15ED-F7F9-77FE-9D9B4463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38929-A138-E4EF-7EB8-1FD695653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0D2FE-2C87-4B78-8235-C23A3CBE4C4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96515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1C9F-BF77-E6D9-CFDA-1240FFFEC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B33E7-3E53-9FDC-5D6A-128B59BEC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A2E10-5FC2-733A-2865-88FC7DD4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4F9D-22AB-4FB6-83AB-39898B103E03}" type="datetimeFigureOut">
              <a:rPr lang="en-PK" smtClean="0"/>
              <a:t>18/02/2025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132EF-5F7B-39D0-3998-E2EAC58DF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EDD6F-9622-A468-781A-E10A04643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0D2FE-2C87-4B78-8235-C23A3CBE4C4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24868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AD8C2-0814-9E55-DCF3-6FDCD75D15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92DD7-C7EC-8681-FF2C-F3428A838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EF572-BE4B-6782-7C6F-CC53E24C3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04F9D-22AB-4FB6-83AB-39898B103E03}" type="datetimeFigureOut">
              <a:rPr lang="en-PK" smtClean="0"/>
              <a:t>18/02/2025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02B8D-30D6-2E62-D7BB-5A72E97D6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BDE49-D33A-3E72-07C3-74FC6C159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0D2FE-2C87-4B78-8235-C23A3CBE4C4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6160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CB5353-573B-1940-AC02-CF3881491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2B98F-1B51-A9F7-D91A-783149ED6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58101-A67C-BB93-8BB1-3E24C0FEB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04F9D-22AB-4FB6-83AB-39898B103E03}" type="datetimeFigureOut">
              <a:rPr lang="en-PK" smtClean="0"/>
              <a:t>18/02/2025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1A32E-2447-51E9-0492-EE88DA916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78071-E61F-BB5F-E2BE-C6D044EBD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D2FE-2C87-4B78-8235-C23A3CBE4C4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8391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kaggle.com/code/youssefelbadry10/credit-card-fraud-detection/input" TargetMode="Externa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ABD190-2EA0-4416-A3FF-184AD9E56991}"/>
              </a:ext>
            </a:extLst>
          </p:cNvPr>
          <p:cNvSpPr/>
          <p:nvPr/>
        </p:nvSpPr>
        <p:spPr>
          <a:xfrm>
            <a:off x="-46037" y="7834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81C275-260A-4F4C-B692-BB2B332E9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952" y="2954612"/>
            <a:ext cx="5329113" cy="3057687"/>
          </a:xfrm>
          <a:custGeom>
            <a:avLst/>
            <a:gdLst>
              <a:gd name="connsiteX0" fmla="*/ 3389173 w 5329113"/>
              <a:gd name="connsiteY0" fmla="*/ 3492212 h 3602907"/>
              <a:gd name="connsiteX1" fmla="*/ 3389174 w 5329113"/>
              <a:gd name="connsiteY1" fmla="*/ 3492213 h 3602907"/>
              <a:gd name="connsiteX2" fmla="*/ 3389174 w 5329113"/>
              <a:gd name="connsiteY2" fmla="*/ 3492213 h 3602907"/>
              <a:gd name="connsiteX3" fmla="*/ 4820559 w 5329113"/>
              <a:gd name="connsiteY3" fmla="*/ 2096665 h 3602907"/>
              <a:gd name="connsiteX4" fmla="*/ 5030804 w 5329113"/>
              <a:gd name="connsiteY4" fmla="*/ 2188257 h 3602907"/>
              <a:gd name="connsiteX5" fmla="*/ 5030803 w 5329113"/>
              <a:gd name="connsiteY5" fmla="*/ 2188258 h 3602907"/>
              <a:gd name="connsiteX6" fmla="*/ 4991472 w 5329113"/>
              <a:gd name="connsiteY6" fmla="*/ 2531349 h 3602907"/>
              <a:gd name="connsiteX7" fmla="*/ 3732265 w 5329113"/>
              <a:gd name="connsiteY7" fmla="*/ 3531543 h 3602907"/>
              <a:gd name="connsiteX8" fmla="*/ 3423667 w 5329113"/>
              <a:gd name="connsiteY8" fmla="*/ 3527662 h 3602907"/>
              <a:gd name="connsiteX9" fmla="*/ 3389174 w 5329113"/>
              <a:gd name="connsiteY9" fmla="*/ 3492213 h 3602907"/>
              <a:gd name="connsiteX10" fmla="*/ 3345082 w 5329113"/>
              <a:gd name="connsiteY10" fmla="*/ 3405850 h 3602907"/>
              <a:gd name="connsiteX11" fmla="*/ 3428505 w 5329113"/>
              <a:gd name="connsiteY11" fmla="*/ 3149122 h 3602907"/>
              <a:gd name="connsiteX12" fmla="*/ 4687713 w 5329113"/>
              <a:gd name="connsiteY12" fmla="*/ 2148926 h 3602907"/>
              <a:gd name="connsiteX13" fmla="*/ 4820559 w 5329113"/>
              <a:gd name="connsiteY13" fmla="*/ 2096665 h 3602907"/>
              <a:gd name="connsiteX14" fmla="*/ 364139 w 5329113"/>
              <a:gd name="connsiteY14" fmla="*/ 1973515 h 3602907"/>
              <a:gd name="connsiteX15" fmla="*/ 364138 w 5329113"/>
              <a:gd name="connsiteY15" fmla="*/ 1973516 h 3602907"/>
              <a:gd name="connsiteX16" fmla="*/ 364138 w 5329113"/>
              <a:gd name="connsiteY16" fmla="*/ 1973515 h 3602907"/>
              <a:gd name="connsiteX17" fmla="*/ 3140178 w 5329113"/>
              <a:gd name="connsiteY17" fmla="*/ 1929513 h 3602907"/>
              <a:gd name="connsiteX18" fmla="*/ 3276279 w 5329113"/>
              <a:gd name="connsiteY18" fmla="*/ 1958614 h 3602907"/>
              <a:gd name="connsiteX19" fmla="*/ 3303118 w 5329113"/>
              <a:gd name="connsiteY19" fmla="*/ 1976919 h 3602907"/>
              <a:gd name="connsiteX20" fmla="*/ 3328313 w 5329113"/>
              <a:gd name="connsiteY20" fmla="*/ 2016158 h 3602907"/>
              <a:gd name="connsiteX21" fmla="*/ 3328312 w 5329113"/>
              <a:gd name="connsiteY21" fmla="*/ 2016157 h 3602907"/>
              <a:gd name="connsiteX22" fmla="*/ 3362806 w 5329113"/>
              <a:gd name="connsiteY22" fmla="*/ 2051607 h 3602907"/>
              <a:gd name="connsiteX23" fmla="*/ 3375615 w 5329113"/>
              <a:gd name="connsiteY23" fmla="*/ 2060344 h 3602907"/>
              <a:gd name="connsiteX24" fmla="*/ 3377146 w 5329113"/>
              <a:gd name="connsiteY24" fmla="*/ 2062728 h 3602907"/>
              <a:gd name="connsiteX25" fmla="*/ 3311091 w 5329113"/>
              <a:gd name="connsiteY25" fmla="*/ 2364198 h 3602907"/>
              <a:gd name="connsiteX26" fmla="*/ 2051883 w 5329113"/>
              <a:gd name="connsiteY26" fmla="*/ 3364392 h 3602907"/>
              <a:gd name="connsiteX27" fmla="*/ 1708793 w 5329113"/>
              <a:gd name="connsiteY27" fmla="*/ 3325062 h 3602907"/>
              <a:gd name="connsiteX28" fmla="*/ 1708793 w 5329113"/>
              <a:gd name="connsiteY28" fmla="*/ 3325063 h 3602907"/>
              <a:gd name="connsiteX29" fmla="*/ 1748124 w 5329113"/>
              <a:gd name="connsiteY29" fmla="*/ 2981971 h 3602907"/>
              <a:gd name="connsiteX30" fmla="*/ 3007331 w 5329113"/>
              <a:gd name="connsiteY30" fmla="*/ 1981775 h 3602907"/>
              <a:gd name="connsiteX31" fmla="*/ 3140178 w 5329113"/>
              <a:gd name="connsiteY31" fmla="*/ 1929513 h 3602907"/>
              <a:gd name="connsiteX32" fmla="*/ 5329113 w 5329113"/>
              <a:gd name="connsiteY32" fmla="*/ 839431 h 3602907"/>
              <a:gd name="connsiteX33" fmla="*/ 5329113 w 5329113"/>
              <a:gd name="connsiteY33" fmla="*/ 1463132 h 3602907"/>
              <a:gd name="connsiteX34" fmla="*/ 2635219 w 5329113"/>
              <a:gd name="connsiteY34" fmla="*/ 3602907 h 3602907"/>
              <a:gd name="connsiteX35" fmla="*/ 1850005 w 5329113"/>
              <a:gd name="connsiteY35" fmla="*/ 3602907 h 3602907"/>
              <a:gd name="connsiteX36" fmla="*/ 4759699 w 5329113"/>
              <a:gd name="connsiteY36" fmla="*/ 620609 h 3602907"/>
              <a:gd name="connsiteX37" fmla="*/ 4969943 w 5329113"/>
              <a:gd name="connsiteY37" fmla="*/ 712203 h 3602907"/>
              <a:gd name="connsiteX38" fmla="*/ 4969942 w 5329113"/>
              <a:gd name="connsiteY38" fmla="*/ 712202 h 3602907"/>
              <a:gd name="connsiteX39" fmla="*/ 4930611 w 5329113"/>
              <a:gd name="connsiteY39" fmla="*/ 1055294 h 3602907"/>
              <a:gd name="connsiteX40" fmla="*/ 3671403 w 5329113"/>
              <a:gd name="connsiteY40" fmla="*/ 2055488 h 3602907"/>
              <a:gd name="connsiteX41" fmla="*/ 3402458 w 5329113"/>
              <a:gd name="connsiteY41" fmla="*/ 2078650 h 3602907"/>
              <a:gd name="connsiteX42" fmla="*/ 3375615 w 5329113"/>
              <a:gd name="connsiteY42" fmla="*/ 2060344 h 3602907"/>
              <a:gd name="connsiteX43" fmla="*/ 3350422 w 5329113"/>
              <a:gd name="connsiteY43" fmla="*/ 2021107 h 3602907"/>
              <a:gd name="connsiteX44" fmla="*/ 3350423 w 5329113"/>
              <a:gd name="connsiteY44" fmla="*/ 2021107 h 3602907"/>
              <a:gd name="connsiteX45" fmla="*/ 3315929 w 5329113"/>
              <a:gd name="connsiteY45" fmla="*/ 1985656 h 3602907"/>
              <a:gd name="connsiteX46" fmla="*/ 3303118 w 5329113"/>
              <a:gd name="connsiteY46" fmla="*/ 1976919 h 3602907"/>
              <a:gd name="connsiteX47" fmla="*/ 3301590 w 5329113"/>
              <a:gd name="connsiteY47" fmla="*/ 1974537 h 3602907"/>
              <a:gd name="connsiteX48" fmla="*/ 3367644 w 5329113"/>
              <a:gd name="connsiteY48" fmla="*/ 1673067 h 3602907"/>
              <a:gd name="connsiteX49" fmla="*/ 4626851 w 5329113"/>
              <a:gd name="connsiteY49" fmla="*/ 672871 h 3602907"/>
              <a:gd name="connsiteX50" fmla="*/ 4759699 w 5329113"/>
              <a:gd name="connsiteY50" fmla="*/ 620609 h 3602907"/>
              <a:gd name="connsiteX51" fmla="*/ 2737548 w 5329113"/>
              <a:gd name="connsiteY51" fmla="*/ 569343 h 3602907"/>
              <a:gd name="connsiteX52" fmla="*/ 2947792 w 5329113"/>
              <a:gd name="connsiteY52" fmla="*/ 660936 h 3602907"/>
              <a:gd name="connsiteX53" fmla="*/ 2947793 w 5329113"/>
              <a:gd name="connsiteY53" fmla="*/ 660937 h 3602907"/>
              <a:gd name="connsiteX54" fmla="*/ 2908460 w 5329113"/>
              <a:gd name="connsiteY54" fmla="*/ 1004028 h 3602907"/>
              <a:gd name="connsiteX55" fmla="*/ 0 w 5329113"/>
              <a:gd name="connsiteY55" fmla="*/ 3314233 h 3602907"/>
              <a:gd name="connsiteX56" fmla="*/ 0 w 5329113"/>
              <a:gd name="connsiteY56" fmla="*/ 2690534 h 3602907"/>
              <a:gd name="connsiteX57" fmla="*/ 2604701 w 5329113"/>
              <a:gd name="connsiteY57" fmla="*/ 621605 h 3602907"/>
              <a:gd name="connsiteX58" fmla="*/ 2737548 w 5329113"/>
              <a:gd name="connsiteY58" fmla="*/ 569343 h 3602907"/>
              <a:gd name="connsiteX59" fmla="*/ 4334297 w 5329113"/>
              <a:gd name="connsiteY59" fmla="*/ 121651 h 3602907"/>
              <a:gd name="connsiteX60" fmla="*/ 4544542 w 5329113"/>
              <a:gd name="connsiteY60" fmla="*/ 213243 h 3602907"/>
              <a:gd name="connsiteX61" fmla="*/ 4544541 w 5329113"/>
              <a:gd name="connsiteY61" fmla="*/ 213244 h 3602907"/>
              <a:gd name="connsiteX62" fmla="*/ 4505209 w 5329113"/>
              <a:gd name="connsiteY62" fmla="*/ 556335 h 3602907"/>
              <a:gd name="connsiteX63" fmla="*/ 1536978 w 5329113"/>
              <a:gd name="connsiteY63" fmla="*/ 2914017 h 3602907"/>
              <a:gd name="connsiteX64" fmla="*/ 1193887 w 5329113"/>
              <a:gd name="connsiteY64" fmla="*/ 2874686 h 3602907"/>
              <a:gd name="connsiteX65" fmla="*/ 1193888 w 5329113"/>
              <a:gd name="connsiteY65" fmla="*/ 2874687 h 3602907"/>
              <a:gd name="connsiteX66" fmla="*/ 1233219 w 5329113"/>
              <a:gd name="connsiteY66" fmla="*/ 2531596 h 3602907"/>
              <a:gd name="connsiteX67" fmla="*/ 4201450 w 5329113"/>
              <a:gd name="connsiteY67" fmla="*/ 173912 h 3602907"/>
              <a:gd name="connsiteX68" fmla="*/ 4334297 w 5329113"/>
              <a:gd name="connsiteY68" fmla="*/ 121651 h 3602907"/>
              <a:gd name="connsiteX69" fmla="*/ 5121823 w 5329113"/>
              <a:gd name="connsiteY69" fmla="*/ 10733 h 3602907"/>
              <a:gd name="connsiteX70" fmla="*/ 5304690 w 5329113"/>
              <a:gd name="connsiteY70" fmla="*/ 63029 h 3602907"/>
              <a:gd name="connsiteX71" fmla="*/ 5329113 w 5329113"/>
              <a:gd name="connsiteY71" fmla="*/ 81894 h 3602907"/>
              <a:gd name="connsiteX72" fmla="*/ 5329113 w 5329113"/>
              <a:gd name="connsiteY72" fmla="*/ 551986 h 3602907"/>
              <a:gd name="connsiteX73" fmla="*/ 5304690 w 5329113"/>
              <a:gd name="connsiteY73" fmla="*/ 570852 h 3602907"/>
              <a:gd name="connsiteX74" fmla="*/ 5121822 w 5329113"/>
              <a:gd name="connsiteY74" fmla="*/ 623148 h 3602907"/>
              <a:gd name="connsiteX75" fmla="*/ 4794752 w 5329113"/>
              <a:gd name="connsiteY75" fmla="*/ 316940 h 3602907"/>
              <a:gd name="connsiteX76" fmla="*/ 5121823 w 5329113"/>
              <a:gd name="connsiteY76" fmla="*/ 10733 h 3602907"/>
              <a:gd name="connsiteX77" fmla="*/ 3453568 w 5329113"/>
              <a:gd name="connsiteY77" fmla="*/ 0 h 3602907"/>
              <a:gd name="connsiteX78" fmla="*/ 4238784 w 5329113"/>
              <a:gd name="connsiteY78" fmla="*/ 0 h 3602907"/>
              <a:gd name="connsiteX79" fmla="*/ 3364184 w 5329113"/>
              <a:gd name="connsiteY79" fmla="*/ 694699 h 3602907"/>
              <a:gd name="connsiteX80" fmla="*/ 3021092 w 5329113"/>
              <a:gd name="connsiteY80" fmla="*/ 655367 h 3602907"/>
              <a:gd name="connsiteX81" fmla="*/ 3021093 w 5329113"/>
              <a:gd name="connsiteY81" fmla="*/ 655368 h 3602907"/>
              <a:gd name="connsiteX82" fmla="*/ 3060424 w 5329113"/>
              <a:gd name="connsiteY82" fmla="*/ 312276 h 3602907"/>
              <a:gd name="connsiteX83" fmla="*/ 2456111 w 5329113"/>
              <a:gd name="connsiteY83" fmla="*/ 0 h 3602907"/>
              <a:gd name="connsiteX84" fmla="*/ 3241325 w 5329113"/>
              <a:gd name="connsiteY84" fmla="*/ 0 h 3602907"/>
              <a:gd name="connsiteX85" fmla="*/ 707229 w 5329113"/>
              <a:gd name="connsiteY85" fmla="*/ 2012846 h 3602907"/>
              <a:gd name="connsiteX86" fmla="*/ 398632 w 5329113"/>
              <a:gd name="connsiteY86" fmla="*/ 2008965 h 3602907"/>
              <a:gd name="connsiteX87" fmla="*/ 364139 w 5329113"/>
              <a:gd name="connsiteY87" fmla="*/ 1973515 h 3602907"/>
              <a:gd name="connsiteX88" fmla="*/ 320046 w 5329113"/>
              <a:gd name="connsiteY88" fmla="*/ 1887153 h 3602907"/>
              <a:gd name="connsiteX89" fmla="*/ 403469 w 5329113"/>
              <a:gd name="connsiteY89" fmla="*/ 1630425 h 360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5329113" h="3602907">
                <a:moveTo>
                  <a:pt x="3389173" y="3492212"/>
                </a:moveTo>
                <a:lnTo>
                  <a:pt x="3389174" y="3492213"/>
                </a:lnTo>
                <a:lnTo>
                  <a:pt x="3389174" y="3492213"/>
                </a:lnTo>
                <a:close/>
                <a:moveTo>
                  <a:pt x="4820559" y="2096665"/>
                </a:moveTo>
                <a:cubicBezTo>
                  <a:pt x="4898716" y="2090626"/>
                  <a:pt x="4978378" y="2122255"/>
                  <a:pt x="5030804" y="2188257"/>
                </a:cubicBezTo>
                <a:lnTo>
                  <a:pt x="5030803" y="2188258"/>
                </a:lnTo>
                <a:cubicBezTo>
                  <a:pt x="5114684" y="2293861"/>
                  <a:pt x="5097075" y="2447468"/>
                  <a:pt x="4991472" y="2531349"/>
                </a:cubicBezTo>
                <a:lnTo>
                  <a:pt x="3732265" y="3531543"/>
                </a:lnTo>
                <a:cubicBezTo>
                  <a:pt x="3639862" y="3604939"/>
                  <a:pt x="3510707" y="3600632"/>
                  <a:pt x="3423667" y="3527662"/>
                </a:cubicBezTo>
                <a:lnTo>
                  <a:pt x="3389174" y="3492213"/>
                </a:lnTo>
                <a:lnTo>
                  <a:pt x="3345082" y="3405850"/>
                </a:lnTo>
                <a:cubicBezTo>
                  <a:pt x="3319597" y="3314164"/>
                  <a:pt x="3349303" y="3212033"/>
                  <a:pt x="3428505" y="3149122"/>
                </a:cubicBezTo>
                <a:lnTo>
                  <a:pt x="4687713" y="2148926"/>
                </a:lnTo>
                <a:cubicBezTo>
                  <a:pt x="4727313" y="2117471"/>
                  <a:pt x="4773665" y="2100287"/>
                  <a:pt x="4820559" y="2096665"/>
                </a:cubicBezTo>
                <a:close/>
                <a:moveTo>
                  <a:pt x="364139" y="1973515"/>
                </a:moveTo>
                <a:lnTo>
                  <a:pt x="364138" y="1973516"/>
                </a:lnTo>
                <a:lnTo>
                  <a:pt x="364138" y="1973515"/>
                </a:lnTo>
                <a:close/>
                <a:moveTo>
                  <a:pt x="3140178" y="1929513"/>
                </a:moveTo>
                <a:cubicBezTo>
                  <a:pt x="3187072" y="1925890"/>
                  <a:pt x="3234508" y="1935828"/>
                  <a:pt x="3276279" y="1958614"/>
                </a:cubicBezTo>
                <a:lnTo>
                  <a:pt x="3303118" y="1976919"/>
                </a:lnTo>
                <a:lnTo>
                  <a:pt x="3328313" y="2016158"/>
                </a:lnTo>
                <a:lnTo>
                  <a:pt x="3328312" y="2016157"/>
                </a:lnTo>
                <a:cubicBezTo>
                  <a:pt x="3338797" y="2029357"/>
                  <a:pt x="3350372" y="2041183"/>
                  <a:pt x="3362806" y="2051607"/>
                </a:cubicBezTo>
                <a:lnTo>
                  <a:pt x="3375615" y="2060344"/>
                </a:lnTo>
                <a:lnTo>
                  <a:pt x="3377146" y="2062728"/>
                </a:lnTo>
                <a:cubicBezTo>
                  <a:pt x="3428526" y="2164023"/>
                  <a:pt x="3403494" y="2290802"/>
                  <a:pt x="3311091" y="2364198"/>
                </a:cubicBezTo>
                <a:lnTo>
                  <a:pt x="2051883" y="3364392"/>
                </a:lnTo>
                <a:cubicBezTo>
                  <a:pt x="1946281" y="3448274"/>
                  <a:pt x="1792674" y="3430665"/>
                  <a:pt x="1708793" y="3325062"/>
                </a:cubicBezTo>
                <a:lnTo>
                  <a:pt x="1708793" y="3325063"/>
                </a:lnTo>
                <a:cubicBezTo>
                  <a:pt x="1624912" y="3219459"/>
                  <a:pt x="1642521" y="3065852"/>
                  <a:pt x="1748124" y="2981971"/>
                </a:cubicBezTo>
                <a:lnTo>
                  <a:pt x="3007331" y="1981775"/>
                </a:lnTo>
                <a:cubicBezTo>
                  <a:pt x="3046932" y="1950320"/>
                  <a:pt x="3093285" y="1933136"/>
                  <a:pt x="3140178" y="1929513"/>
                </a:cubicBezTo>
                <a:close/>
                <a:moveTo>
                  <a:pt x="5329113" y="839431"/>
                </a:moveTo>
                <a:lnTo>
                  <a:pt x="5329113" y="1463132"/>
                </a:lnTo>
                <a:lnTo>
                  <a:pt x="2635219" y="3602907"/>
                </a:lnTo>
                <a:lnTo>
                  <a:pt x="1850005" y="3602907"/>
                </a:lnTo>
                <a:close/>
                <a:moveTo>
                  <a:pt x="4759699" y="620609"/>
                </a:moveTo>
                <a:cubicBezTo>
                  <a:pt x="4837855" y="614571"/>
                  <a:pt x="4917517" y="646200"/>
                  <a:pt x="4969943" y="712203"/>
                </a:cubicBezTo>
                <a:lnTo>
                  <a:pt x="4969942" y="712202"/>
                </a:lnTo>
                <a:cubicBezTo>
                  <a:pt x="5053823" y="817805"/>
                  <a:pt x="5036214" y="971413"/>
                  <a:pt x="4930611" y="1055294"/>
                </a:cubicBezTo>
                <a:lnTo>
                  <a:pt x="3671403" y="2055488"/>
                </a:lnTo>
                <a:cubicBezTo>
                  <a:pt x="3592201" y="2118400"/>
                  <a:pt x="3485996" y="2124222"/>
                  <a:pt x="3402458" y="2078650"/>
                </a:cubicBezTo>
                <a:lnTo>
                  <a:pt x="3375615" y="2060344"/>
                </a:lnTo>
                <a:lnTo>
                  <a:pt x="3350422" y="2021107"/>
                </a:lnTo>
                <a:lnTo>
                  <a:pt x="3350423" y="2021107"/>
                </a:lnTo>
                <a:cubicBezTo>
                  <a:pt x="3339939" y="2007905"/>
                  <a:pt x="3328363" y="1996080"/>
                  <a:pt x="3315929" y="1985656"/>
                </a:cubicBezTo>
                <a:lnTo>
                  <a:pt x="3303118" y="1976919"/>
                </a:lnTo>
                <a:lnTo>
                  <a:pt x="3301590" y="1974537"/>
                </a:lnTo>
                <a:cubicBezTo>
                  <a:pt x="3250209" y="1873243"/>
                  <a:pt x="3275241" y="1746462"/>
                  <a:pt x="3367644" y="1673067"/>
                </a:cubicBezTo>
                <a:lnTo>
                  <a:pt x="4626851" y="672871"/>
                </a:lnTo>
                <a:cubicBezTo>
                  <a:pt x="4666452" y="641416"/>
                  <a:pt x="4712804" y="624232"/>
                  <a:pt x="4759699" y="620609"/>
                </a:cubicBezTo>
                <a:close/>
                <a:moveTo>
                  <a:pt x="2737548" y="569343"/>
                </a:moveTo>
                <a:cubicBezTo>
                  <a:pt x="2815704" y="563305"/>
                  <a:pt x="2895367" y="594934"/>
                  <a:pt x="2947792" y="660936"/>
                </a:cubicBezTo>
                <a:lnTo>
                  <a:pt x="2947793" y="660937"/>
                </a:lnTo>
                <a:cubicBezTo>
                  <a:pt x="3031674" y="766540"/>
                  <a:pt x="3014063" y="920147"/>
                  <a:pt x="2908460" y="1004028"/>
                </a:cubicBezTo>
                <a:lnTo>
                  <a:pt x="0" y="3314233"/>
                </a:lnTo>
                <a:lnTo>
                  <a:pt x="0" y="2690534"/>
                </a:lnTo>
                <a:lnTo>
                  <a:pt x="2604701" y="621605"/>
                </a:lnTo>
                <a:cubicBezTo>
                  <a:pt x="2644302" y="590150"/>
                  <a:pt x="2690655" y="572966"/>
                  <a:pt x="2737548" y="569343"/>
                </a:cubicBezTo>
                <a:close/>
                <a:moveTo>
                  <a:pt x="4334297" y="121651"/>
                </a:moveTo>
                <a:cubicBezTo>
                  <a:pt x="4412453" y="115612"/>
                  <a:pt x="4492115" y="147241"/>
                  <a:pt x="4544542" y="213243"/>
                </a:cubicBezTo>
                <a:lnTo>
                  <a:pt x="4544541" y="213244"/>
                </a:lnTo>
                <a:cubicBezTo>
                  <a:pt x="4628422" y="318847"/>
                  <a:pt x="4610812" y="472454"/>
                  <a:pt x="4505209" y="556335"/>
                </a:cubicBezTo>
                <a:lnTo>
                  <a:pt x="1536978" y="2914017"/>
                </a:lnTo>
                <a:cubicBezTo>
                  <a:pt x="1431375" y="2997898"/>
                  <a:pt x="1277768" y="2980289"/>
                  <a:pt x="1193887" y="2874686"/>
                </a:cubicBezTo>
                <a:lnTo>
                  <a:pt x="1193888" y="2874687"/>
                </a:lnTo>
                <a:cubicBezTo>
                  <a:pt x="1110007" y="2769084"/>
                  <a:pt x="1127616" y="2615477"/>
                  <a:pt x="1233219" y="2531596"/>
                </a:cubicBezTo>
                <a:lnTo>
                  <a:pt x="4201450" y="173912"/>
                </a:lnTo>
                <a:cubicBezTo>
                  <a:pt x="4241051" y="142457"/>
                  <a:pt x="4287403" y="125273"/>
                  <a:pt x="4334297" y="121651"/>
                </a:cubicBezTo>
                <a:close/>
                <a:moveTo>
                  <a:pt x="5121823" y="10733"/>
                </a:moveTo>
                <a:cubicBezTo>
                  <a:pt x="5189561" y="10733"/>
                  <a:pt x="5252490" y="30012"/>
                  <a:pt x="5304690" y="63029"/>
                </a:cubicBezTo>
                <a:lnTo>
                  <a:pt x="5329113" y="81894"/>
                </a:lnTo>
                <a:lnTo>
                  <a:pt x="5329113" y="551986"/>
                </a:lnTo>
                <a:lnTo>
                  <a:pt x="5304690" y="570852"/>
                </a:lnTo>
                <a:cubicBezTo>
                  <a:pt x="5252489" y="603869"/>
                  <a:pt x="5189560" y="623148"/>
                  <a:pt x="5121822" y="623148"/>
                </a:cubicBezTo>
                <a:cubicBezTo>
                  <a:pt x="4941186" y="623147"/>
                  <a:pt x="4794752" y="486053"/>
                  <a:pt x="4794752" y="316940"/>
                </a:cubicBezTo>
                <a:cubicBezTo>
                  <a:pt x="4794752" y="147828"/>
                  <a:pt x="4941186" y="10733"/>
                  <a:pt x="5121823" y="10733"/>
                </a:cubicBezTo>
                <a:close/>
                <a:moveTo>
                  <a:pt x="3453568" y="0"/>
                </a:moveTo>
                <a:lnTo>
                  <a:pt x="4238784" y="0"/>
                </a:lnTo>
                <a:lnTo>
                  <a:pt x="3364184" y="694699"/>
                </a:lnTo>
                <a:cubicBezTo>
                  <a:pt x="3258581" y="778580"/>
                  <a:pt x="3104973" y="760970"/>
                  <a:pt x="3021092" y="655367"/>
                </a:cubicBezTo>
                <a:lnTo>
                  <a:pt x="3021093" y="655368"/>
                </a:lnTo>
                <a:cubicBezTo>
                  <a:pt x="2937212" y="549765"/>
                  <a:pt x="2954821" y="396157"/>
                  <a:pt x="3060424" y="312276"/>
                </a:cubicBezTo>
                <a:close/>
                <a:moveTo>
                  <a:pt x="2456111" y="0"/>
                </a:moveTo>
                <a:lnTo>
                  <a:pt x="3241325" y="0"/>
                </a:lnTo>
                <a:lnTo>
                  <a:pt x="707229" y="2012846"/>
                </a:lnTo>
                <a:cubicBezTo>
                  <a:pt x="614826" y="2086242"/>
                  <a:pt x="485671" y="2081935"/>
                  <a:pt x="398632" y="2008965"/>
                </a:cubicBezTo>
                <a:lnTo>
                  <a:pt x="364139" y="1973515"/>
                </a:lnTo>
                <a:lnTo>
                  <a:pt x="320046" y="1887153"/>
                </a:lnTo>
                <a:cubicBezTo>
                  <a:pt x="294562" y="1795467"/>
                  <a:pt x="324267" y="1693336"/>
                  <a:pt x="403469" y="1630425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4E4837-0458-4DD1-99D6-ED66C9D8A2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195" y="611785"/>
            <a:ext cx="1606471" cy="16064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ADD146-DA40-4880-BF2E-4A15F6C3D9BD}"/>
              </a:ext>
            </a:extLst>
          </p:cNvPr>
          <p:cNvSpPr/>
          <p:nvPr/>
        </p:nvSpPr>
        <p:spPr>
          <a:xfrm>
            <a:off x="-46037" y="6098301"/>
            <a:ext cx="12287250" cy="1046778"/>
          </a:xfrm>
          <a:prstGeom prst="rect">
            <a:avLst/>
          </a:prstGeom>
          <a:solidFill>
            <a:srgbClr val="096E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621">
              <a:defRPr/>
            </a:pPr>
            <a:endParaRPr lang="en-IN" sz="2399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F862F60-D2ED-4B60-B6EE-D879E4B3AE9A}"/>
              </a:ext>
            </a:extLst>
          </p:cNvPr>
          <p:cNvSpPr>
            <a:spLocks/>
          </p:cNvSpPr>
          <p:nvPr/>
        </p:nvSpPr>
        <p:spPr bwMode="auto">
          <a:xfrm>
            <a:off x="-300058" y="4206910"/>
            <a:ext cx="3066251" cy="3059203"/>
          </a:xfrm>
          <a:custGeom>
            <a:avLst/>
            <a:gdLst>
              <a:gd name="T0" fmla="*/ 966 w 1932"/>
              <a:gd name="T1" fmla="*/ 1928 h 1928"/>
              <a:gd name="T2" fmla="*/ 0 w 1932"/>
              <a:gd name="T3" fmla="*/ 964 h 1928"/>
              <a:gd name="T4" fmla="*/ 966 w 1932"/>
              <a:gd name="T5" fmla="*/ 0 h 1928"/>
              <a:gd name="T6" fmla="*/ 1932 w 1932"/>
              <a:gd name="T7" fmla="*/ 964 h 1928"/>
              <a:gd name="T8" fmla="*/ 966 w 1932"/>
              <a:gd name="T9" fmla="*/ 1928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32" h="1928">
                <a:moveTo>
                  <a:pt x="966" y="1928"/>
                </a:moveTo>
                <a:lnTo>
                  <a:pt x="0" y="964"/>
                </a:lnTo>
                <a:lnTo>
                  <a:pt x="966" y="0"/>
                </a:lnTo>
                <a:lnTo>
                  <a:pt x="1932" y="964"/>
                </a:lnTo>
                <a:lnTo>
                  <a:pt x="966" y="1928"/>
                </a:lnTo>
                <a:close/>
              </a:path>
            </a:pathLst>
          </a:custGeom>
          <a:solidFill>
            <a:srgbClr val="000110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621">
              <a:defRPr/>
            </a:pPr>
            <a:endParaRPr lang="en-IN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C25D4F6-26B2-40AE-8DA4-F869990B8E8A}"/>
              </a:ext>
            </a:extLst>
          </p:cNvPr>
          <p:cNvSpPr>
            <a:spLocks/>
          </p:cNvSpPr>
          <p:nvPr/>
        </p:nvSpPr>
        <p:spPr bwMode="auto">
          <a:xfrm>
            <a:off x="-261483" y="3217805"/>
            <a:ext cx="3066251" cy="3059203"/>
          </a:xfrm>
          <a:custGeom>
            <a:avLst/>
            <a:gdLst>
              <a:gd name="T0" fmla="*/ 966 w 1932"/>
              <a:gd name="T1" fmla="*/ 1928 h 1928"/>
              <a:gd name="T2" fmla="*/ 0 w 1932"/>
              <a:gd name="T3" fmla="*/ 964 h 1928"/>
              <a:gd name="T4" fmla="*/ 966 w 1932"/>
              <a:gd name="T5" fmla="*/ 0 h 1928"/>
              <a:gd name="T6" fmla="*/ 1932 w 1932"/>
              <a:gd name="T7" fmla="*/ 964 h 1928"/>
              <a:gd name="T8" fmla="*/ 966 w 1932"/>
              <a:gd name="T9" fmla="*/ 1928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32" h="1928">
                <a:moveTo>
                  <a:pt x="966" y="1928"/>
                </a:moveTo>
                <a:lnTo>
                  <a:pt x="0" y="964"/>
                </a:lnTo>
                <a:lnTo>
                  <a:pt x="966" y="0"/>
                </a:lnTo>
                <a:lnTo>
                  <a:pt x="1932" y="964"/>
                </a:lnTo>
                <a:lnTo>
                  <a:pt x="966" y="1928"/>
                </a:lnTo>
                <a:close/>
              </a:path>
            </a:pathLst>
          </a:custGeom>
          <a:solidFill>
            <a:srgbClr val="212783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621">
              <a:defRPr/>
            </a:pPr>
            <a:endParaRPr lang="en-IN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0EE51730-B799-4C83-B646-23F4094821FB}"/>
              </a:ext>
            </a:extLst>
          </p:cNvPr>
          <p:cNvSpPr>
            <a:spLocks/>
          </p:cNvSpPr>
          <p:nvPr/>
        </p:nvSpPr>
        <p:spPr bwMode="auto">
          <a:xfrm>
            <a:off x="-262468" y="1899398"/>
            <a:ext cx="3066251" cy="3059203"/>
          </a:xfrm>
          <a:custGeom>
            <a:avLst/>
            <a:gdLst>
              <a:gd name="T0" fmla="*/ 966 w 1932"/>
              <a:gd name="T1" fmla="*/ 1928 h 1928"/>
              <a:gd name="T2" fmla="*/ 0 w 1932"/>
              <a:gd name="T3" fmla="*/ 964 h 1928"/>
              <a:gd name="T4" fmla="*/ 966 w 1932"/>
              <a:gd name="T5" fmla="*/ 0 h 1928"/>
              <a:gd name="T6" fmla="*/ 1932 w 1932"/>
              <a:gd name="T7" fmla="*/ 964 h 1928"/>
              <a:gd name="T8" fmla="*/ 966 w 1932"/>
              <a:gd name="T9" fmla="*/ 1928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32" h="1928">
                <a:moveTo>
                  <a:pt x="966" y="1928"/>
                </a:moveTo>
                <a:lnTo>
                  <a:pt x="0" y="964"/>
                </a:lnTo>
                <a:lnTo>
                  <a:pt x="966" y="0"/>
                </a:lnTo>
                <a:lnTo>
                  <a:pt x="1932" y="964"/>
                </a:lnTo>
                <a:lnTo>
                  <a:pt x="966" y="1928"/>
                </a:lnTo>
                <a:close/>
              </a:path>
            </a:pathLst>
          </a:custGeom>
          <a:solidFill>
            <a:srgbClr val="1B95D2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621">
              <a:defRPr/>
            </a:pPr>
            <a:endParaRPr lang="en-IN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A1CE5EEA-3D14-4309-937B-5B4DD32154E8}"/>
              </a:ext>
            </a:extLst>
          </p:cNvPr>
          <p:cNvSpPr>
            <a:spLocks/>
          </p:cNvSpPr>
          <p:nvPr/>
        </p:nvSpPr>
        <p:spPr bwMode="auto">
          <a:xfrm>
            <a:off x="-291687" y="553011"/>
            <a:ext cx="3066251" cy="3059203"/>
          </a:xfrm>
          <a:custGeom>
            <a:avLst/>
            <a:gdLst>
              <a:gd name="T0" fmla="*/ 966 w 1932"/>
              <a:gd name="T1" fmla="*/ 1928 h 1928"/>
              <a:gd name="T2" fmla="*/ 0 w 1932"/>
              <a:gd name="T3" fmla="*/ 964 h 1928"/>
              <a:gd name="T4" fmla="*/ 966 w 1932"/>
              <a:gd name="T5" fmla="*/ 0 h 1928"/>
              <a:gd name="T6" fmla="*/ 1932 w 1932"/>
              <a:gd name="T7" fmla="*/ 964 h 1928"/>
              <a:gd name="T8" fmla="*/ 966 w 1932"/>
              <a:gd name="T9" fmla="*/ 1928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32" h="1928">
                <a:moveTo>
                  <a:pt x="966" y="1928"/>
                </a:moveTo>
                <a:lnTo>
                  <a:pt x="0" y="964"/>
                </a:lnTo>
                <a:lnTo>
                  <a:pt x="966" y="0"/>
                </a:lnTo>
                <a:lnTo>
                  <a:pt x="1932" y="964"/>
                </a:lnTo>
                <a:lnTo>
                  <a:pt x="966" y="1928"/>
                </a:lnTo>
                <a:close/>
              </a:path>
            </a:pathLst>
          </a:custGeom>
          <a:solidFill>
            <a:srgbClr val="000110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621">
              <a:defRPr/>
            </a:pPr>
            <a:endParaRPr lang="en-IN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1D7FF0BA-59A1-4147-AFA1-FAE9D84F13A8}"/>
              </a:ext>
            </a:extLst>
          </p:cNvPr>
          <p:cNvSpPr>
            <a:spLocks/>
          </p:cNvSpPr>
          <p:nvPr/>
        </p:nvSpPr>
        <p:spPr bwMode="auto">
          <a:xfrm>
            <a:off x="-254097" y="-575985"/>
            <a:ext cx="3066251" cy="3059203"/>
          </a:xfrm>
          <a:custGeom>
            <a:avLst/>
            <a:gdLst>
              <a:gd name="T0" fmla="*/ 966 w 1932"/>
              <a:gd name="T1" fmla="*/ 1928 h 1928"/>
              <a:gd name="T2" fmla="*/ 0 w 1932"/>
              <a:gd name="T3" fmla="*/ 964 h 1928"/>
              <a:gd name="T4" fmla="*/ 966 w 1932"/>
              <a:gd name="T5" fmla="*/ 0 h 1928"/>
              <a:gd name="T6" fmla="*/ 1932 w 1932"/>
              <a:gd name="T7" fmla="*/ 964 h 1928"/>
              <a:gd name="T8" fmla="*/ 966 w 1932"/>
              <a:gd name="T9" fmla="*/ 1928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32" h="1928">
                <a:moveTo>
                  <a:pt x="966" y="1928"/>
                </a:moveTo>
                <a:lnTo>
                  <a:pt x="0" y="964"/>
                </a:lnTo>
                <a:lnTo>
                  <a:pt x="966" y="0"/>
                </a:lnTo>
                <a:lnTo>
                  <a:pt x="1932" y="964"/>
                </a:lnTo>
                <a:lnTo>
                  <a:pt x="966" y="1928"/>
                </a:lnTo>
                <a:close/>
              </a:path>
            </a:pathLst>
          </a:custGeom>
          <a:solidFill>
            <a:srgbClr val="212783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621">
              <a:defRPr/>
            </a:pPr>
            <a:endParaRPr lang="en-IN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Box 21">
            <a:extLst>
              <a:ext uri="{FF2B5EF4-FFF2-40B4-BE49-F238E27FC236}">
                <a16:creationId xmlns:a16="http://schemas.microsoft.com/office/drawing/2014/main" id="{33D29EF4-1A20-4EAD-95E4-B509842D7CA4}"/>
              </a:ext>
            </a:extLst>
          </p:cNvPr>
          <p:cNvSpPr txBox="1"/>
          <p:nvPr/>
        </p:nvSpPr>
        <p:spPr>
          <a:xfrm>
            <a:off x="2514122" y="871655"/>
            <a:ext cx="8027925" cy="1077218"/>
          </a:xfrm>
          <a:prstGeom prst="rect">
            <a:avLst/>
          </a:prstGeom>
          <a:gradFill flip="none" rotWithShape="1">
            <a:gsLst>
              <a:gs pos="72000">
                <a:srgbClr val="1CADE4">
                  <a:alpha val="68000"/>
                  <a:lumMod val="100000"/>
                </a:srgbClr>
              </a:gs>
              <a:gs pos="100000">
                <a:srgbClr val="2683C6">
                  <a:alpha val="10000"/>
                </a:srgbClr>
              </a:gs>
            </a:gsLst>
            <a:path path="rect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Fraudulent Transaction: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 &amp; Prevention</a:t>
            </a:r>
          </a:p>
        </p:txBody>
      </p:sp>
    </p:spTree>
    <p:extLst>
      <p:ext uri="{BB962C8B-B14F-4D97-AF65-F5344CB8AC3E}">
        <p14:creationId xmlns:p14="http://schemas.microsoft.com/office/powerpoint/2010/main" val="1553718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46DA9B-2CD3-4BD1-B059-B8C634191A95}"/>
              </a:ext>
            </a:extLst>
          </p:cNvPr>
          <p:cNvSpPr/>
          <p:nvPr/>
        </p:nvSpPr>
        <p:spPr>
          <a:xfrm>
            <a:off x="1588" y="-1490"/>
            <a:ext cx="12188825" cy="6860980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26348E9-D8BB-4623-905C-AE82E8C39E82}"/>
              </a:ext>
            </a:extLst>
          </p:cNvPr>
          <p:cNvSpPr txBox="1"/>
          <p:nvPr/>
        </p:nvSpPr>
        <p:spPr>
          <a:xfrm>
            <a:off x="253233" y="3315159"/>
            <a:ext cx="6930053" cy="461665"/>
          </a:xfrm>
          <a:prstGeom prst="rect">
            <a:avLst/>
          </a:prstGeom>
          <a:gradFill flip="none" rotWithShape="1">
            <a:gsLst>
              <a:gs pos="72000">
                <a:srgbClr val="1CADE4">
                  <a:alpha val="68000"/>
                  <a:lumMod val="100000"/>
                </a:srgbClr>
              </a:gs>
              <a:gs pos="100000">
                <a:srgbClr val="2683C6">
                  <a:alpha val="10000"/>
                </a:srgbClr>
              </a:gs>
            </a:gsLst>
            <a:path path="rect">
              <a:fillToRect l="50000" t="50000" r="50000" b="50000"/>
            </a:path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2121110022		Eman Masood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F27F02F7-C8C1-4CEB-B28E-F7A4F597F346}"/>
              </a:ext>
            </a:extLst>
          </p:cNvPr>
          <p:cNvSpPr txBox="1"/>
          <p:nvPr/>
        </p:nvSpPr>
        <p:spPr>
          <a:xfrm>
            <a:off x="253233" y="2566516"/>
            <a:ext cx="6930053" cy="461665"/>
          </a:xfrm>
          <a:prstGeom prst="rect">
            <a:avLst/>
          </a:prstGeom>
          <a:gradFill flip="none" rotWithShape="1">
            <a:gsLst>
              <a:gs pos="72000">
                <a:srgbClr val="1CADE4">
                  <a:alpha val="68000"/>
                  <a:lumMod val="100000"/>
                </a:srgbClr>
              </a:gs>
              <a:gs pos="100000">
                <a:srgbClr val="2683C6">
                  <a:alpha val="10000"/>
                </a:srgbClr>
              </a:gs>
            </a:gsLst>
            <a:path path="rect">
              <a:fillToRect l="50000" t="50000" r="50000" b="50000"/>
            </a:path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2121110019		Bismah Rehman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5F4609C5-2516-4E30-B27C-9F35642E908E}"/>
              </a:ext>
            </a:extLst>
          </p:cNvPr>
          <p:cNvSpPr txBox="1"/>
          <p:nvPr/>
        </p:nvSpPr>
        <p:spPr>
          <a:xfrm>
            <a:off x="235805" y="1812394"/>
            <a:ext cx="6930053" cy="523220"/>
          </a:xfrm>
          <a:prstGeom prst="rect">
            <a:avLst/>
          </a:prstGeom>
          <a:gradFill flip="none" rotWithShape="1">
            <a:gsLst>
              <a:gs pos="72000">
                <a:srgbClr val="1CADE4">
                  <a:alpha val="68000"/>
                  <a:lumMod val="100000"/>
                </a:srgbClr>
              </a:gs>
              <a:gs pos="100000">
                <a:srgbClr val="2683C6">
                  <a:alpha val="10000"/>
                </a:srgbClr>
              </a:gs>
            </a:gsLst>
            <a:path path="rect">
              <a:fillToRect l="50000" t="50000" r="50000" b="50000"/>
            </a:path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Presenters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54DA9A6-28F4-4A6A-892E-90B7097ADC1D}"/>
              </a:ext>
            </a:extLst>
          </p:cNvPr>
          <p:cNvSpPr txBox="1"/>
          <p:nvPr/>
        </p:nvSpPr>
        <p:spPr>
          <a:xfrm>
            <a:off x="253233" y="4069281"/>
            <a:ext cx="6930053" cy="461665"/>
          </a:xfrm>
          <a:prstGeom prst="rect">
            <a:avLst/>
          </a:prstGeom>
          <a:gradFill flip="none" rotWithShape="1">
            <a:gsLst>
              <a:gs pos="72000">
                <a:srgbClr val="1CADE4">
                  <a:alpha val="68000"/>
                  <a:lumMod val="100000"/>
                </a:srgbClr>
              </a:gs>
              <a:gs pos="100000">
                <a:srgbClr val="2683C6">
                  <a:alpha val="10000"/>
                </a:srgbClr>
              </a:gs>
            </a:gsLst>
            <a:path path="rect">
              <a:fillToRect l="50000" t="50000" r="50000" b="50000"/>
            </a:path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2121110030		Hira Riaz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5352399A-8334-47CB-B5BC-6DD5ED979948}"/>
              </a:ext>
            </a:extLst>
          </p:cNvPr>
          <p:cNvSpPr txBox="1"/>
          <p:nvPr/>
        </p:nvSpPr>
        <p:spPr>
          <a:xfrm>
            <a:off x="253233" y="4896635"/>
            <a:ext cx="6930053" cy="461665"/>
          </a:xfrm>
          <a:prstGeom prst="rect">
            <a:avLst/>
          </a:prstGeom>
          <a:gradFill flip="none" rotWithShape="1">
            <a:gsLst>
              <a:gs pos="72000">
                <a:srgbClr val="1CADE4">
                  <a:alpha val="68000"/>
                  <a:lumMod val="100000"/>
                </a:srgbClr>
              </a:gs>
              <a:gs pos="100000">
                <a:srgbClr val="2683C6">
                  <a:alpha val="10000"/>
                </a:srgbClr>
              </a:gs>
            </a:gsLst>
            <a:path path="rect">
              <a:fillToRect l="50000" t="50000" r="50000" b="50000"/>
            </a:path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2121110043		Laiba Sheikh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F541064B-CFB3-4BA3-A9CE-CC2309E48B49}"/>
              </a:ext>
            </a:extLst>
          </p:cNvPr>
          <p:cNvSpPr txBox="1"/>
          <p:nvPr/>
        </p:nvSpPr>
        <p:spPr>
          <a:xfrm>
            <a:off x="4819434" y="5760454"/>
            <a:ext cx="7098729" cy="461665"/>
          </a:xfrm>
          <a:prstGeom prst="rect">
            <a:avLst/>
          </a:prstGeom>
          <a:gradFill flip="none" rotWithShape="1">
            <a:gsLst>
              <a:gs pos="0">
                <a:srgbClr val="002060">
                  <a:tint val="66000"/>
                  <a:satMod val="160000"/>
                </a:srgbClr>
              </a:gs>
              <a:gs pos="50000">
                <a:srgbClr val="002060">
                  <a:tint val="44500"/>
                  <a:satMod val="160000"/>
                </a:srgbClr>
              </a:gs>
              <a:gs pos="100000">
                <a:srgbClr val="002060">
                  <a:tint val="23500"/>
                  <a:satMod val="160000"/>
                </a:srgbClr>
              </a:gs>
            </a:gsLst>
            <a:lin ang="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Supervisor:		Ms. Nadia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2CAB83EB-4BE7-4AD8-9AE9-C86B0B4668CF}"/>
              </a:ext>
            </a:extLst>
          </p:cNvPr>
          <p:cNvSpPr txBox="1"/>
          <p:nvPr/>
        </p:nvSpPr>
        <p:spPr>
          <a:xfrm>
            <a:off x="235805" y="217402"/>
            <a:ext cx="11682358" cy="1200329"/>
          </a:xfrm>
          <a:prstGeom prst="rect">
            <a:avLst/>
          </a:prstGeom>
          <a:solidFill>
            <a:schemeClr val="bg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Sciences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GOVT. ISLAMIA COLLEGE FOR WOMEN COOPER ROAD LAHORE</a:t>
            </a:r>
          </a:p>
          <a:p>
            <a:pPr algn="ctr"/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Affiliated with Lahore College for Women University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334534-68FB-46D9-AD52-AAB5A8415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411" y="1744383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189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46">
            <a:extLst>
              <a:ext uri="{FF2B5EF4-FFF2-40B4-BE49-F238E27FC236}">
                <a16:creationId xmlns:a16="http://schemas.microsoft.com/office/drawing/2014/main" id="{790F77D8-0F4F-46A6-8A69-03566BFBB15B}"/>
              </a:ext>
            </a:extLst>
          </p:cNvPr>
          <p:cNvSpPr txBox="1"/>
          <p:nvPr/>
        </p:nvSpPr>
        <p:spPr>
          <a:xfrm>
            <a:off x="682580" y="463640"/>
            <a:ext cx="8780397" cy="646331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Introduction-Fraudulent Transaction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96AD6D-F90D-4E4C-8D61-DE2F7A06F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980" y="42522"/>
            <a:ext cx="1606471" cy="16064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7262241-DD23-D718-0DAC-3BE6E1E37015}"/>
              </a:ext>
            </a:extLst>
          </p:cNvPr>
          <p:cNvSpPr txBox="1"/>
          <p:nvPr/>
        </p:nvSpPr>
        <p:spPr>
          <a:xfrm>
            <a:off x="682580" y="1531088"/>
            <a:ext cx="5675690" cy="5514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07000"/>
              </a:lnSpc>
              <a:buClr>
                <a:schemeClr val="tx1"/>
              </a:buClr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Every day, millions of people use credit cards for payments, but fraudsters are also finding new ways to steal money.</a:t>
            </a:r>
            <a:endParaRPr lang="en-US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buClr>
                <a:schemeClr val="tx1"/>
              </a:buClr>
              <a:buSzPct val="25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PK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Credit card fraud leads to huge financial losses for banks and users.</a:t>
            </a:r>
            <a:endParaRPr lang="en-US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PK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Traditional fraud detection systems rely on fixed rules, which often fail to detect new fraud techniques.</a:t>
            </a:r>
            <a:endParaRPr lang="en-US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PK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project aims to use machine learning to make fraud detection smarter, faster, and more accurate.</a:t>
            </a:r>
            <a:endParaRPr lang="en-US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PK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PK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FAE51C9-7B4F-6A5D-C771-AB20606C73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187" y="1468975"/>
            <a:ext cx="4513580" cy="45135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980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679536-D050-4234-1272-5C275E9CF409}"/>
              </a:ext>
            </a:extLst>
          </p:cNvPr>
          <p:cNvSpPr/>
          <p:nvPr/>
        </p:nvSpPr>
        <p:spPr>
          <a:xfrm>
            <a:off x="-46037" y="7834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3A1224-3A50-3EAA-0C31-3A1420BEFE9C}"/>
              </a:ext>
            </a:extLst>
          </p:cNvPr>
          <p:cNvSpPr txBox="1"/>
          <p:nvPr/>
        </p:nvSpPr>
        <p:spPr>
          <a:xfrm>
            <a:off x="723014" y="304126"/>
            <a:ext cx="6974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5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  <a:endParaRPr lang="en-PK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1C34F-511F-A37A-2BD3-CD136FBEE209}"/>
              </a:ext>
            </a:extLst>
          </p:cNvPr>
          <p:cNvSpPr txBox="1"/>
          <p:nvPr/>
        </p:nvSpPr>
        <p:spPr>
          <a:xfrm>
            <a:off x="393404" y="1541720"/>
            <a:ext cx="10877107" cy="4170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>
              <a:lnSpc>
                <a:spcPct val="107000"/>
              </a:lnSpc>
              <a:spcAft>
                <a:spcPts val="800"/>
              </a:spcAft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Credit card fraud is increasing as online transactions become more common.</a:t>
            </a:r>
          </a:p>
          <a:p>
            <a:pPr marL="457200" marR="0" lvl="0" indent="-457200">
              <a:lnSpc>
                <a:spcPct val="107000"/>
              </a:lnSpc>
              <a:spcAft>
                <a:spcPts val="800"/>
              </a:spcAft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Existing fraud detection methods </a:t>
            </a: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aren’t efficient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detecting </a:t>
            </a: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 types of fraud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>
              <a:lnSpc>
                <a:spcPct val="107000"/>
              </a:lnSpc>
              <a:spcAft>
                <a:spcPts val="800"/>
              </a:spcAft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There’s a need for a system that can </a:t>
            </a: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automatically learn from fraud patterns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detect fraud in real time.</a:t>
            </a:r>
          </a:p>
          <a:p>
            <a:pPr marL="457200" marR="0" lvl="0" indent="-457200">
              <a:lnSpc>
                <a:spcPct val="107000"/>
              </a:lnSpc>
              <a:spcAft>
                <a:spcPts val="800"/>
              </a:spcAft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</a:t>
            </a: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real-time, accurate, and efficient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fraud detection systems.</a:t>
            </a:r>
          </a:p>
          <a:p>
            <a:pPr marL="457200" marR="0" lvl="0" indent="-457200">
              <a:lnSpc>
                <a:spcPct val="107000"/>
              </a:lnSpc>
              <a:spcAft>
                <a:spcPts val="800"/>
              </a:spcAft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can </a:t>
            </a: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help detect fraud more effectively?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9284003-29BE-F642-72D2-D505D82FC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980" y="42522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961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Increment of Credit card fraud up to 2027. [60] | Download ...">
            <a:extLst>
              <a:ext uri="{FF2B5EF4-FFF2-40B4-BE49-F238E27FC236}">
                <a16:creationId xmlns:a16="http://schemas.microsoft.com/office/drawing/2014/main" id="{6ED7E102-D083-8685-CB04-651586A4A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521" y="313333"/>
            <a:ext cx="10228521" cy="6544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DB15EDF-B4A9-D6B9-3964-E918EC39E5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980" y="42522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452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8F41BD-2384-68A9-698F-49D113DE63BC}"/>
              </a:ext>
            </a:extLst>
          </p:cNvPr>
          <p:cNvSpPr/>
          <p:nvPr/>
        </p:nvSpPr>
        <p:spPr>
          <a:xfrm>
            <a:off x="-46037" y="7834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0BF28A-6173-FB82-9C31-7579E279379F}"/>
              </a:ext>
            </a:extLst>
          </p:cNvPr>
          <p:cNvSpPr txBox="1"/>
          <p:nvPr/>
        </p:nvSpPr>
        <p:spPr>
          <a:xfrm>
            <a:off x="191386" y="350874"/>
            <a:ext cx="10972800" cy="847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PK" sz="4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Objectives</a:t>
            </a:r>
            <a:endParaRPr lang="en-PK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BF996-7E0E-5D62-E8A0-E05E8C56C3BA}"/>
              </a:ext>
            </a:extLst>
          </p:cNvPr>
          <p:cNvSpPr txBox="1"/>
          <p:nvPr/>
        </p:nvSpPr>
        <p:spPr>
          <a:xfrm>
            <a:off x="308344" y="1435395"/>
            <a:ext cx="11047228" cy="381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>
              <a:lnSpc>
                <a:spcPct val="107000"/>
              </a:lnSpc>
              <a:spcAft>
                <a:spcPts val="800"/>
              </a:spcAft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 a </a:t>
            </a: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learning-based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fraud detection system.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>
              <a:lnSpc>
                <a:spcPct val="107000"/>
              </a:lnSpc>
              <a:spcAft>
                <a:spcPts val="800"/>
              </a:spcAft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 accuracy and reduce </a:t>
            </a: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false positives/negatives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>
              <a:lnSpc>
                <a:spcPct val="107000"/>
              </a:lnSpc>
              <a:spcAft>
                <a:spcPts val="800"/>
              </a:spcAft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multiple datasets for better fraud detection.</a:t>
            </a:r>
          </a:p>
          <a:p>
            <a:pPr marL="457200" marR="0" lvl="0" indent="-457200">
              <a:lnSpc>
                <a:spcPct val="107000"/>
              </a:lnSpc>
              <a:spcAft>
                <a:spcPts val="800"/>
              </a:spcAft>
              <a:buSzPct val="159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 different ML algorithms and select the best-performing model.</a:t>
            </a:r>
          </a:p>
          <a:p>
            <a:pPr marL="457200" marR="0" lvl="0" indent="-457200">
              <a:lnSpc>
                <a:spcPct val="107000"/>
              </a:lnSpc>
              <a:spcAft>
                <a:spcPts val="800"/>
              </a:spcAft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 </a:t>
            </a: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false alarms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so legitimate transactions are not blocked.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PK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C0DC6A-5440-CCA2-CF96-A7CAF72C4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980" y="42522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94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DCCE63-46C9-49B5-AEBB-E932A807ADDD}"/>
              </a:ext>
            </a:extLst>
          </p:cNvPr>
          <p:cNvSpPr/>
          <p:nvPr/>
        </p:nvSpPr>
        <p:spPr>
          <a:xfrm>
            <a:off x="-51356" y="15669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B2617-2503-5894-BA97-9667423F958A}"/>
              </a:ext>
            </a:extLst>
          </p:cNvPr>
          <p:cNvSpPr txBox="1"/>
          <p:nvPr/>
        </p:nvSpPr>
        <p:spPr>
          <a:xfrm>
            <a:off x="202019" y="118505"/>
            <a:ext cx="75703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 Review</a:t>
            </a:r>
            <a:endParaRPr lang="en-PK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B8485-A8CD-B7A2-04E3-24936E5250BA}"/>
              </a:ext>
            </a:extLst>
          </p:cNvPr>
          <p:cNvSpPr txBox="1"/>
          <p:nvPr/>
        </p:nvSpPr>
        <p:spPr>
          <a:xfrm>
            <a:off x="808075" y="929227"/>
            <a:ext cx="9431079" cy="459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Methods:</a:t>
            </a:r>
            <a:endParaRPr lang="en-PK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Rule-based systems (predefined conditions).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Signature-based methods (fixed fraud patterns).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Modern Approaches:</a:t>
            </a:r>
            <a:endParaRPr lang="en-PK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models trained on past fraud patterns.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Deep learning for more advanced detection.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</a:t>
            </a:r>
            <a:r>
              <a:rPr lang="en-PK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analyze</a:t>
            </a:r>
            <a:r>
              <a:rPr lang="en-PK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PK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patterns</a:t>
            </a:r>
            <a:r>
              <a:rPr lang="en-PK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detect suspicious transactions automatically.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Findings</a:t>
            </a:r>
            <a:endParaRPr lang="en-US" sz="20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lvl="0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2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en-US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PK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AI-based fraud detection is </a:t>
            </a:r>
            <a:r>
              <a:rPr lang="en-PK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more accurate and efficient</a:t>
            </a:r>
            <a:r>
              <a:rPr lang="en-PK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than traditional methods.</a:t>
            </a:r>
          </a:p>
          <a:p>
            <a:endParaRPr lang="en-PK" sz="36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01FB07-6BE5-C40B-1AD5-42E9F759D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493525"/>
              </p:ext>
            </p:extLst>
          </p:nvPr>
        </p:nvGraphicFramePr>
        <p:xfrm>
          <a:off x="730101" y="4858147"/>
          <a:ext cx="10721163" cy="19841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73721">
                  <a:extLst>
                    <a:ext uri="{9D8B030D-6E8A-4147-A177-3AD203B41FA5}">
                      <a16:colId xmlns:a16="http://schemas.microsoft.com/office/drawing/2014/main" val="373039901"/>
                    </a:ext>
                  </a:extLst>
                </a:gridCol>
                <a:gridCol w="3573721">
                  <a:extLst>
                    <a:ext uri="{9D8B030D-6E8A-4147-A177-3AD203B41FA5}">
                      <a16:colId xmlns:a16="http://schemas.microsoft.com/office/drawing/2014/main" val="159239302"/>
                    </a:ext>
                  </a:extLst>
                </a:gridCol>
                <a:gridCol w="3573721">
                  <a:extLst>
                    <a:ext uri="{9D8B030D-6E8A-4147-A177-3AD203B41FA5}">
                      <a16:colId xmlns:a16="http://schemas.microsoft.com/office/drawing/2014/main" val="1138253371"/>
                    </a:ext>
                  </a:extLst>
                </a:gridCol>
              </a:tblGrid>
              <a:tr h="496046">
                <a:tc>
                  <a:txBody>
                    <a:bodyPr/>
                    <a:lstStyle/>
                    <a:p>
                      <a:pPr marL="914400" marR="0">
                        <a:lnSpc>
                          <a:spcPct val="107000"/>
                        </a:lnSpc>
                      </a:pPr>
                      <a:r>
                        <a:rPr lang="en-PK" sz="1100" kern="100">
                          <a:effectLst/>
                        </a:rPr>
                        <a:t>Feature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914400" marR="0">
                        <a:lnSpc>
                          <a:spcPct val="107000"/>
                        </a:lnSpc>
                      </a:pPr>
                      <a:r>
                        <a:rPr lang="en-PK" sz="1100" kern="100">
                          <a:effectLst/>
                        </a:rPr>
                        <a:t>Traditional Methods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91440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100" kern="100">
                          <a:effectLst/>
                        </a:rPr>
                        <a:t>Machine Learning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30447512"/>
                  </a:ext>
                </a:extLst>
              </a:tr>
              <a:tr h="496046">
                <a:tc>
                  <a:txBody>
                    <a:bodyPr/>
                    <a:lstStyle/>
                    <a:p>
                      <a:pPr marL="914400" marR="0">
                        <a:lnSpc>
                          <a:spcPct val="107000"/>
                        </a:lnSpc>
                      </a:pPr>
                      <a:r>
                        <a:rPr lang="en-PK" sz="1100" kern="100">
                          <a:effectLst/>
                        </a:rPr>
                        <a:t>Fixed Rules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914400" marR="0">
                        <a:lnSpc>
                          <a:spcPct val="107000"/>
                        </a:lnSpc>
                      </a:pPr>
                      <a:r>
                        <a:rPr lang="en-PK" sz="1100" kern="100">
                          <a:effectLst/>
                        </a:rPr>
                        <a:t>✅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91440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100" kern="100">
                          <a:effectLst/>
                        </a:rPr>
                        <a:t>❌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8237442"/>
                  </a:ext>
                </a:extLst>
              </a:tr>
              <a:tr h="496046">
                <a:tc>
                  <a:txBody>
                    <a:bodyPr/>
                    <a:lstStyle/>
                    <a:p>
                      <a:pPr marL="914400" marR="0">
                        <a:lnSpc>
                          <a:spcPct val="107000"/>
                        </a:lnSpc>
                      </a:pPr>
                      <a:r>
                        <a:rPr lang="en-PK" sz="1100" kern="100" dirty="0">
                          <a:effectLst/>
                        </a:rPr>
                        <a:t>Learns from Data</a:t>
                      </a:r>
                      <a:endParaRPr lang="en-PK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914400" marR="0">
                        <a:lnSpc>
                          <a:spcPct val="107000"/>
                        </a:lnSpc>
                      </a:pPr>
                      <a:r>
                        <a:rPr lang="en-PK" sz="1100" kern="100">
                          <a:effectLst/>
                        </a:rPr>
                        <a:t>❌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91440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100" kern="100">
                          <a:effectLst/>
                        </a:rPr>
                        <a:t>✅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6601718"/>
                  </a:ext>
                </a:extLst>
              </a:tr>
              <a:tr h="496046">
                <a:tc>
                  <a:txBody>
                    <a:bodyPr/>
                    <a:lstStyle/>
                    <a:p>
                      <a:pPr marL="914400" marR="0">
                        <a:lnSpc>
                          <a:spcPct val="107000"/>
                        </a:lnSpc>
                      </a:pPr>
                      <a:r>
                        <a:rPr lang="en-PK" sz="1100" kern="100">
                          <a:effectLst/>
                        </a:rPr>
                        <a:t>Real-time Detection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914400" marR="0">
                        <a:lnSpc>
                          <a:spcPct val="107000"/>
                        </a:lnSpc>
                      </a:pPr>
                      <a:r>
                        <a:rPr lang="en-PK" sz="1100" kern="100">
                          <a:effectLst/>
                        </a:rPr>
                        <a:t>❌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91440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100" kern="100" dirty="0">
                          <a:effectLst/>
                        </a:rPr>
                        <a:t>✅</a:t>
                      </a:r>
                      <a:endParaRPr lang="en-PK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498703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D05654D-08DE-FB00-B922-CE4CB278C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980" y="42522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54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0E9FE3-4895-C9C7-D621-32903664A697}"/>
              </a:ext>
            </a:extLst>
          </p:cNvPr>
          <p:cNvSpPr/>
          <p:nvPr/>
        </p:nvSpPr>
        <p:spPr>
          <a:xfrm>
            <a:off x="-46037" y="7834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65E123-77EF-871C-EA3C-AA5888780E81}"/>
              </a:ext>
            </a:extLst>
          </p:cNvPr>
          <p:cNvSpPr txBox="1"/>
          <p:nvPr/>
        </p:nvSpPr>
        <p:spPr>
          <a:xfrm>
            <a:off x="723013" y="350875"/>
            <a:ext cx="9462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</a:t>
            </a: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</a:t>
            </a:r>
            <a:r>
              <a:rPr lang="en-PK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CB13F-AA99-8DAC-F8FD-EA7951070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647" y="1095248"/>
            <a:ext cx="8690343" cy="5595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ED3CE0-1E60-245B-C4A3-6BF67C728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980" y="42522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596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CD3142-B112-8ED3-A273-3BD0D3360819}"/>
              </a:ext>
            </a:extLst>
          </p:cNvPr>
          <p:cNvSpPr txBox="1"/>
          <p:nvPr/>
        </p:nvSpPr>
        <p:spPr>
          <a:xfrm>
            <a:off x="265814" y="563526"/>
            <a:ext cx="7113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5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</a:t>
            </a:r>
            <a:endParaRPr lang="en-PK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3C75B2-67BE-4946-7DB8-D93988184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85" y="2062730"/>
            <a:ext cx="10407376" cy="372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18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02672-CD45-90FC-8572-A84E7AF08DDE}"/>
              </a:ext>
            </a:extLst>
          </p:cNvPr>
          <p:cNvSpPr/>
          <p:nvPr/>
        </p:nvSpPr>
        <p:spPr>
          <a:xfrm>
            <a:off x="-46037" y="7834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956CA5-E4B7-5F0B-F987-525401529C17}"/>
              </a:ext>
            </a:extLst>
          </p:cNvPr>
          <p:cNvSpPr txBox="1"/>
          <p:nvPr/>
        </p:nvSpPr>
        <p:spPr>
          <a:xfrm>
            <a:off x="903767" y="574158"/>
            <a:ext cx="73152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4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Dataset Used:</a:t>
            </a:r>
            <a:endParaRPr lang="en-PK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4B136-3FD4-4D11-7665-F8AA29FE3D22}"/>
              </a:ext>
            </a:extLst>
          </p:cNvPr>
          <p:cNvSpPr txBox="1"/>
          <p:nvPr/>
        </p:nvSpPr>
        <p:spPr>
          <a:xfrm>
            <a:off x="212651" y="1648047"/>
            <a:ext cx="10930270" cy="558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marR="0" lvl="1" indent="-457200">
              <a:lnSpc>
                <a:spcPct val="107000"/>
              </a:lnSpc>
              <a:buSzPct val="100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Kaggle's </a:t>
            </a: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Credit Card Fraud Detection Dataset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PK" sz="2800" u="sng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https://www.kaggle.com/code/youssefelbadry10/credit-card-fraud-detection/input</a:t>
            </a:r>
            <a:r>
              <a:rPr lang="en-PK" sz="2800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28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lvl="1" indent="-457200">
              <a:lnSpc>
                <a:spcPct val="107000"/>
              </a:lnSpc>
              <a:buSzPct val="100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PK" sz="2800" u="sng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lvl="1" indent="-457200">
              <a:lnSpc>
                <a:spcPct val="107000"/>
              </a:lnSpc>
              <a:buSzPct val="100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used a publicly available dataset from Kaggle with </a:t>
            </a: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 credit card transactions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lvl="1" indent="-457200">
              <a:lnSpc>
                <a:spcPct val="107000"/>
              </a:lnSpc>
              <a:buSzPct val="100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PK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lvl="1" indent="-457200">
              <a:lnSpc>
                <a:spcPct val="107000"/>
              </a:lnSpc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dataset is </a:t>
            </a: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highly imbalanced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(only a few fraud cases among thousands of normal transactions).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en-PK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B22B1-EFDF-F39D-0275-5DDE3BFE8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980" y="42522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78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08E5E1-C5CB-BB16-0559-A9A02846A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67" y="208410"/>
            <a:ext cx="11451265" cy="644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5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44AE86-0032-177F-B395-BF768560E784}"/>
              </a:ext>
            </a:extLst>
          </p:cNvPr>
          <p:cNvSpPr/>
          <p:nvPr/>
        </p:nvSpPr>
        <p:spPr>
          <a:xfrm>
            <a:off x="-46037" y="7834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7A0283-4BFF-DB8F-B9AA-E77FAFB8B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11" y="429508"/>
            <a:ext cx="11278578" cy="59989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C2FDD6-AF8D-33A6-8AFF-794B70396E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980" y="42522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674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DE7775-1FD1-D040-DF06-B77DF845E109}"/>
              </a:ext>
            </a:extLst>
          </p:cNvPr>
          <p:cNvSpPr/>
          <p:nvPr/>
        </p:nvSpPr>
        <p:spPr>
          <a:xfrm>
            <a:off x="-25080" y="-37141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D9EC3-7AED-AA1C-AAC9-0412A027A1C1}"/>
              </a:ext>
            </a:extLst>
          </p:cNvPr>
          <p:cNvSpPr txBox="1"/>
          <p:nvPr/>
        </p:nvSpPr>
        <p:spPr>
          <a:xfrm>
            <a:off x="491757" y="335913"/>
            <a:ext cx="6140302" cy="78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PK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Algorithms Used:</a:t>
            </a:r>
            <a:endParaRPr lang="en-PK" sz="4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AFA9F49-743E-46B8-2140-E5560388920E}"/>
              </a:ext>
            </a:extLst>
          </p:cNvPr>
          <p:cNvGrpSpPr/>
          <p:nvPr/>
        </p:nvGrpSpPr>
        <p:grpSpPr>
          <a:xfrm>
            <a:off x="3627507" y="1240693"/>
            <a:ext cx="5805376" cy="5401291"/>
            <a:chOff x="3407432" y="1152319"/>
            <a:chExt cx="5373960" cy="5286836"/>
          </a:xfrm>
          <a:effectLst>
            <a:outerShdw blurRad="381000" dist="88900" dir="2700000" algn="tl" rotWithShape="0">
              <a:prstClr val="black">
                <a:alpha val="48000"/>
              </a:prstClr>
            </a:outerShdw>
          </a:effectLst>
        </p:grpSpPr>
        <p:sp>
          <p:nvSpPr>
            <p:cNvPr id="224" name="Freeform 6">
              <a:extLst>
                <a:ext uri="{FF2B5EF4-FFF2-40B4-BE49-F238E27FC236}">
                  <a16:creationId xmlns:a16="http://schemas.microsoft.com/office/drawing/2014/main" id="{D74200D2-2DA9-B2F4-5F5F-E809B3BE8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3895" y="1152319"/>
              <a:ext cx="1676883" cy="1931347"/>
            </a:xfrm>
            <a:custGeom>
              <a:avLst/>
              <a:gdLst>
                <a:gd name="T0" fmla="*/ 1570 w 1944"/>
                <a:gd name="T1" fmla="*/ 0 h 2239"/>
                <a:gd name="T2" fmla="*/ 1579 w 1944"/>
                <a:gd name="T3" fmla="*/ 0 h 2239"/>
                <a:gd name="T4" fmla="*/ 1594 w 1944"/>
                <a:gd name="T5" fmla="*/ 2 h 2239"/>
                <a:gd name="T6" fmla="*/ 1613 w 1944"/>
                <a:gd name="T7" fmla="*/ 4 h 2239"/>
                <a:gd name="T8" fmla="*/ 1638 w 1944"/>
                <a:gd name="T9" fmla="*/ 6 h 2239"/>
                <a:gd name="T10" fmla="*/ 1664 w 1944"/>
                <a:gd name="T11" fmla="*/ 11 h 2239"/>
                <a:gd name="T12" fmla="*/ 1692 w 1944"/>
                <a:gd name="T13" fmla="*/ 19 h 2239"/>
                <a:gd name="T14" fmla="*/ 1725 w 1944"/>
                <a:gd name="T15" fmla="*/ 28 h 2239"/>
                <a:gd name="T16" fmla="*/ 1755 w 1944"/>
                <a:gd name="T17" fmla="*/ 40 h 2239"/>
                <a:gd name="T18" fmla="*/ 1787 w 1944"/>
                <a:gd name="T19" fmla="*/ 57 h 2239"/>
                <a:gd name="T20" fmla="*/ 1817 w 1944"/>
                <a:gd name="T21" fmla="*/ 76 h 2239"/>
                <a:gd name="T22" fmla="*/ 1846 w 1944"/>
                <a:gd name="T23" fmla="*/ 98 h 2239"/>
                <a:gd name="T24" fmla="*/ 1874 w 1944"/>
                <a:gd name="T25" fmla="*/ 125 h 2239"/>
                <a:gd name="T26" fmla="*/ 1897 w 1944"/>
                <a:gd name="T27" fmla="*/ 157 h 2239"/>
                <a:gd name="T28" fmla="*/ 1917 w 1944"/>
                <a:gd name="T29" fmla="*/ 195 h 2239"/>
                <a:gd name="T30" fmla="*/ 1933 w 1944"/>
                <a:gd name="T31" fmla="*/ 238 h 2239"/>
                <a:gd name="T32" fmla="*/ 1942 w 1944"/>
                <a:gd name="T33" fmla="*/ 285 h 2239"/>
                <a:gd name="T34" fmla="*/ 1944 w 1944"/>
                <a:gd name="T35" fmla="*/ 340 h 2239"/>
                <a:gd name="T36" fmla="*/ 1944 w 1944"/>
                <a:gd name="T37" fmla="*/ 440 h 2239"/>
                <a:gd name="T38" fmla="*/ 1944 w 1944"/>
                <a:gd name="T39" fmla="*/ 531 h 2239"/>
                <a:gd name="T40" fmla="*/ 1944 w 1944"/>
                <a:gd name="T41" fmla="*/ 612 h 2239"/>
                <a:gd name="T42" fmla="*/ 1944 w 1944"/>
                <a:gd name="T43" fmla="*/ 684 h 2239"/>
                <a:gd name="T44" fmla="*/ 1944 w 1944"/>
                <a:gd name="T45" fmla="*/ 797 h 2239"/>
                <a:gd name="T46" fmla="*/ 1944 w 1944"/>
                <a:gd name="T47" fmla="*/ 839 h 2239"/>
                <a:gd name="T48" fmla="*/ 1944 w 1944"/>
                <a:gd name="T49" fmla="*/ 869 h 2239"/>
                <a:gd name="T50" fmla="*/ 1944 w 1944"/>
                <a:gd name="T51" fmla="*/ 886 h 2239"/>
                <a:gd name="T52" fmla="*/ 1944 w 1944"/>
                <a:gd name="T53" fmla="*/ 892 h 2239"/>
                <a:gd name="T54" fmla="*/ 1314 w 1944"/>
                <a:gd name="T55" fmla="*/ 2231 h 2239"/>
                <a:gd name="T56" fmla="*/ 634 w 1944"/>
                <a:gd name="T57" fmla="*/ 2239 h 2239"/>
                <a:gd name="T58" fmla="*/ 0 w 1944"/>
                <a:gd name="T59" fmla="*/ 886 h 2239"/>
                <a:gd name="T60" fmla="*/ 0 w 1944"/>
                <a:gd name="T61" fmla="*/ 312 h 2239"/>
                <a:gd name="T62" fmla="*/ 0 w 1944"/>
                <a:gd name="T63" fmla="*/ 308 h 2239"/>
                <a:gd name="T64" fmla="*/ 0 w 1944"/>
                <a:gd name="T65" fmla="*/ 301 h 2239"/>
                <a:gd name="T66" fmla="*/ 0 w 1944"/>
                <a:gd name="T67" fmla="*/ 287 h 2239"/>
                <a:gd name="T68" fmla="*/ 2 w 1944"/>
                <a:gd name="T69" fmla="*/ 268 h 2239"/>
                <a:gd name="T70" fmla="*/ 6 w 1944"/>
                <a:gd name="T71" fmla="*/ 248 h 2239"/>
                <a:gd name="T72" fmla="*/ 13 w 1944"/>
                <a:gd name="T73" fmla="*/ 223 h 2239"/>
                <a:gd name="T74" fmla="*/ 21 w 1944"/>
                <a:gd name="T75" fmla="*/ 197 h 2239"/>
                <a:gd name="T76" fmla="*/ 32 w 1944"/>
                <a:gd name="T77" fmla="*/ 170 h 2239"/>
                <a:gd name="T78" fmla="*/ 47 w 1944"/>
                <a:gd name="T79" fmla="*/ 142 h 2239"/>
                <a:gd name="T80" fmla="*/ 64 w 1944"/>
                <a:gd name="T81" fmla="*/ 115 h 2239"/>
                <a:gd name="T82" fmla="*/ 87 w 1944"/>
                <a:gd name="T83" fmla="*/ 89 h 2239"/>
                <a:gd name="T84" fmla="*/ 115 w 1944"/>
                <a:gd name="T85" fmla="*/ 66 h 2239"/>
                <a:gd name="T86" fmla="*/ 148 w 1944"/>
                <a:gd name="T87" fmla="*/ 44 h 2239"/>
                <a:gd name="T88" fmla="*/ 185 w 1944"/>
                <a:gd name="T89" fmla="*/ 27 h 2239"/>
                <a:gd name="T90" fmla="*/ 229 w 1944"/>
                <a:gd name="T91" fmla="*/ 13 h 2239"/>
                <a:gd name="T92" fmla="*/ 278 w 1944"/>
                <a:gd name="T93" fmla="*/ 4 h 2239"/>
                <a:gd name="T94" fmla="*/ 337 w 1944"/>
                <a:gd name="T95" fmla="*/ 0 h 2239"/>
                <a:gd name="T96" fmla="*/ 1566 w 1944"/>
                <a:gd name="T97" fmla="*/ 0 h 2239"/>
                <a:gd name="T98" fmla="*/ 1570 w 1944"/>
                <a:gd name="T99" fmla="*/ 0 h 2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944" h="2239">
                  <a:moveTo>
                    <a:pt x="1570" y="0"/>
                  </a:moveTo>
                  <a:lnTo>
                    <a:pt x="1579" y="0"/>
                  </a:lnTo>
                  <a:lnTo>
                    <a:pt x="1594" y="2"/>
                  </a:lnTo>
                  <a:lnTo>
                    <a:pt x="1613" y="4"/>
                  </a:lnTo>
                  <a:lnTo>
                    <a:pt x="1638" y="6"/>
                  </a:lnTo>
                  <a:lnTo>
                    <a:pt x="1664" y="11"/>
                  </a:lnTo>
                  <a:lnTo>
                    <a:pt x="1692" y="19"/>
                  </a:lnTo>
                  <a:lnTo>
                    <a:pt x="1725" y="28"/>
                  </a:lnTo>
                  <a:lnTo>
                    <a:pt x="1755" y="40"/>
                  </a:lnTo>
                  <a:lnTo>
                    <a:pt x="1787" y="57"/>
                  </a:lnTo>
                  <a:lnTo>
                    <a:pt x="1817" y="76"/>
                  </a:lnTo>
                  <a:lnTo>
                    <a:pt x="1846" y="98"/>
                  </a:lnTo>
                  <a:lnTo>
                    <a:pt x="1874" y="125"/>
                  </a:lnTo>
                  <a:lnTo>
                    <a:pt x="1897" y="157"/>
                  </a:lnTo>
                  <a:lnTo>
                    <a:pt x="1917" y="195"/>
                  </a:lnTo>
                  <a:lnTo>
                    <a:pt x="1933" y="238"/>
                  </a:lnTo>
                  <a:lnTo>
                    <a:pt x="1942" y="285"/>
                  </a:lnTo>
                  <a:lnTo>
                    <a:pt x="1944" y="340"/>
                  </a:lnTo>
                  <a:lnTo>
                    <a:pt x="1944" y="440"/>
                  </a:lnTo>
                  <a:lnTo>
                    <a:pt x="1944" y="531"/>
                  </a:lnTo>
                  <a:lnTo>
                    <a:pt x="1944" y="612"/>
                  </a:lnTo>
                  <a:lnTo>
                    <a:pt x="1944" y="684"/>
                  </a:lnTo>
                  <a:lnTo>
                    <a:pt x="1944" y="797"/>
                  </a:lnTo>
                  <a:lnTo>
                    <a:pt x="1944" y="839"/>
                  </a:lnTo>
                  <a:lnTo>
                    <a:pt x="1944" y="869"/>
                  </a:lnTo>
                  <a:lnTo>
                    <a:pt x="1944" y="886"/>
                  </a:lnTo>
                  <a:lnTo>
                    <a:pt x="1944" y="892"/>
                  </a:lnTo>
                  <a:lnTo>
                    <a:pt x="1314" y="2231"/>
                  </a:lnTo>
                  <a:lnTo>
                    <a:pt x="634" y="2239"/>
                  </a:lnTo>
                  <a:lnTo>
                    <a:pt x="0" y="886"/>
                  </a:lnTo>
                  <a:lnTo>
                    <a:pt x="0" y="312"/>
                  </a:lnTo>
                  <a:lnTo>
                    <a:pt x="0" y="308"/>
                  </a:lnTo>
                  <a:lnTo>
                    <a:pt x="0" y="301"/>
                  </a:lnTo>
                  <a:lnTo>
                    <a:pt x="0" y="287"/>
                  </a:lnTo>
                  <a:lnTo>
                    <a:pt x="2" y="268"/>
                  </a:lnTo>
                  <a:lnTo>
                    <a:pt x="6" y="248"/>
                  </a:lnTo>
                  <a:lnTo>
                    <a:pt x="13" y="223"/>
                  </a:lnTo>
                  <a:lnTo>
                    <a:pt x="21" y="197"/>
                  </a:lnTo>
                  <a:lnTo>
                    <a:pt x="32" y="170"/>
                  </a:lnTo>
                  <a:lnTo>
                    <a:pt x="47" y="142"/>
                  </a:lnTo>
                  <a:lnTo>
                    <a:pt x="64" y="115"/>
                  </a:lnTo>
                  <a:lnTo>
                    <a:pt x="87" y="89"/>
                  </a:lnTo>
                  <a:lnTo>
                    <a:pt x="115" y="66"/>
                  </a:lnTo>
                  <a:lnTo>
                    <a:pt x="148" y="44"/>
                  </a:lnTo>
                  <a:lnTo>
                    <a:pt x="185" y="27"/>
                  </a:lnTo>
                  <a:lnTo>
                    <a:pt x="229" y="13"/>
                  </a:lnTo>
                  <a:lnTo>
                    <a:pt x="278" y="4"/>
                  </a:lnTo>
                  <a:lnTo>
                    <a:pt x="337" y="0"/>
                  </a:lnTo>
                  <a:lnTo>
                    <a:pt x="1566" y="0"/>
                  </a:lnTo>
                  <a:lnTo>
                    <a:pt x="157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83000">
                  <a:schemeClr val="bg1">
                    <a:lumMod val="85000"/>
                  </a:schemeClr>
                </a:gs>
              </a:gsLst>
              <a:lin ang="8100000" scaled="1"/>
              <a:tileRect/>
            </a:gradFill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P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987"/>
              <a:endParaRPr lang="en-IN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Freeform 7">
              <a:extLst>
                <a:ext uri="{FF2B5EF4-FFF2-40B4-BE49-F238E27FC236}">
                  <a16:creationId xmlns:a16="http://schemas.microsoft.com/office/drawing/2014/main" id="{62ADEB8B-ADE4-D399-E34B-392AB85AA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014" y="1592242"/>
              <a:ext cx="2087477" cy="1996904"/>
            </a:xfrm>
            <a:custGeom>
              <a:avLst/>
              <a:gdLst>
                <a:gd name="T0" fmla="*/ 1299 w 2420"/>
                <a:gd name="T1" fmla="*/ 0 h 2315"/>
                <a:gd name="T2" fmla="*/ 1342 w 2420"/>
                <a:gd name="T3" fmla="*/ 8 h 2315"/>
                <a:gd name="T4" fmla="*/ 1388 w 2420"/>
                <a:gd name="T5" fmla="*/ 23 h 2315"/>
                <a:gd name="T6" fmla="*/ 1433 w 2420"/>
                <a:gd name="T7" fmla="*/ 47 h 2315"/>
                <a:gd name="T8" fmla="*/ 1480 w 2420"/>
                <a:gd name="T9" fmla="*/ 85 h 2315"/>
                <a:gd name="T10" fmla="*/ 1528 w 2420"/>
                <a:gd name="T11" fmla="*/ 134 h 2315"/>
                <a:gd name="T12" fmla="*/ 2316 w 2420"/>
                <a:gd name="T13" fmla="*/ 1077 h 2315"/>
                <a:gd name="T14" fmla="*/ 2318 w 2420"/>
                <a:gd name="T15" fmla="*/ 1081 h 2315"/>
                <a:gd name="T16" fmla="*/ 2325 w 2420"/>
                <a:gd name="T17" fmla="*/ 1090 h 2315"/>
                <a:gd name="T18" fmla="*/ 2337 w 2420"/>
                <a:gd name="T19" fmla="*/ 1105 h 2315"/>
                <a:gd name="T20" fmla="*/ 2350 w 2420"/>
                <a:gd name="T21" fmla="*/ 1126 h 2315"/>
                <a:gd name="T22" fmla="*/ 2365 w 2420"/>
                <a:gd name="T23" fmla="*/ 1151 h 2315"/>
                <a:gd name="T24" fmla="*/ 2380 w 2420"/>
                <a:gd name="T25" fmla="*/ 1179 h 2315"/>
                <a:gd name="T26" fmla="*/ 2395 w 2420"/>
                <a:gd name="T27" fmla="*/ 1213 h 2315"/>
                <a:gd name="T28" fmla="*/ 2407 w 2420"/>
                <a:gd name="T29" fmla="*/ 1249 h 2315"/>
                <a:gd name="T30" fmla="*/ 2416 w 2420"/>
                <a:gd name="T31" fmla="*/ 1287 h 2315"/>
                <a:gd name="T32" fmla="*/ 2420 w 2420"/>
                <a:gd name="T33" fmla="*/ 1328 h 2315"/>
                <a:gd name="T34" fmla="*/ 2420 w 2420"/>
                <a:gd name="T35" fmla="*/ 1370 h 2315"/>
                <a:gd name="T36" fmla="*/ 2412 w 2420"/>
                <a:gd name="T37" fmla="*/ 1413 h 2315"/>
                <a:gd name="T38" fmla="*/ 2399 w 2420"/>
                <a:gd name="T39" fmla="*/ 1457 h 2315"/>
                <a:gd name="T40" fmla="*/ 2375 w 2420"/>
                <a:gd name="T41" fmla="*/ 1500 h 2315"/>
                <a:gd name="T42" fmla="*/ 2343 w 2420"/>
                <a:gd name="T43" fmla="*/ 1544 h 2315"/>
                <a:gd name="T44" fmla="*/ 2297 w 2420"/>
                <a:gd name="T45" fmla="*/ 1587 h 2315"/>
                <a:gd name="T46" fmla="*/ 2227 w 2420"/>
                <a:gd name="T47" fmla="*/ 1644 h 2315"/>
                <a:gd name="T48" fmla="*/ 2163 w 2420"/>
                <a:gd name="T49" fmla="*/ 1699 h 2315"/>
                <a:gd name="T50" fmla="*/ 2104 w 2420"/>
                <a:gd name="T51" fmla="*/ 1748 h 2315"/>
                <a:gd name="T52" fmla="*/ 2053 w 2420"/>
                <a:gd name="T53" fmla="*/ 1791 h 2315"/>
                <a:gd name="T54" fmla="*/ 2006 w 2420"/>
                <a:gd name="T55" fmla="*/ 1829 h 2315"/>
                <a:gd name="T56" fmla="*/ 1966 w 2420"/>
                <a:gd name="T57" fmla="*/ 1863 h 2315"/>
                <a:gd name="T58" fmla="*/ 1934 w 2420"/>
                <a:gd name="T59" fmla="*/ 1890 h 2315"/>
                <a:gd name="T60" fmla="*/ 1908 w 2420"/>
                <a:gd name="T61" fmla="*/ 1912 h 2315"/>
                <a:gd name="T62" fmla="*/ 1889 w 2420"/>
                <a:gd name="T63" fmla="*/ 1927 h 2315"/>
                <a:gd name="T64" fmla="*/ 1877 w 2420"/>
                <a:gd name="T65" fmla="*/ 1937 h 2315"/>
                <a:gd name="T66" fmla="*/ 1874 w 2420"/>
                <a:gd name="T67" fmla="*/ 1941 h 2315"/>
                <a:gd name="T68" fmla="*/ 440 w 2420"/>
                <a:gd name="T69" fmla="*/ 2315 h 2315"/>
                <a:gd name="T70" fmla="*/ 0 w 2420"/>
                <a:gd name="T71" fmla="*/ 1797 h 2315"/>
                <a:gd name="T72" fmla="*/ 633 w 2420"/>
                <a:gd name="T73" fmla="*/ 444 h 2315"/>
                <a:gd name="T74" fmla="*/ 1074 w 2420"/>
                <a:gd name="T75" fmla="*/ 76 h 2315"/>
                <a:gd name="T76" fmla="*/ 1078 w 2420"/>
                <a:gd name="T77" fmla="*/ 74 h 2315"/>
                <a:gd name="T78" fmla="*/ 1087 w 2420"/>
                <a:gd name="T79" fmla="*/ 64 h 2315"/>
                <a:gd name="T80" fmla="*/ 1104 w 2420"/>
                <a:gd name="T81" fmla="*/ 55 h 2315"/>
                <a:gd name="T82" fmla="*/ 1125 w 2420"/>
                <a:gd name="T83" fmla="*/ 42 h 2315"/>
                <a:gd name="T84" fmla="*/ 1151 w 2420"/>
                <a:gd name="T85" fmla="*/ 29 h 2315"/>
                <a:gd name="T86" fmla="*/ 1183 w 2420"/>
                <a:gd name="T87" fmla="*/ 15 h 2315"/>
                <a:gd name="T88" fmla="*/ 1217 w 2420"/>
                <a:gd name="T89" fmla="*/ 6 h 2315"/>
                <a:gd name="T90" fmla="*/ 1257 w 2420"/>
                <a:gd name="T91" fmla="*/ 0 h 2315"/>
                <a:gd name="T92" fmla="*/ 1299 w 2420"/>
                <a:gd name="T93" fmla="*/ 0 h 2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20" h="2315">
                  <a:moveTo>
                    <a:pt x="1299" y="0"/>
                  </a:moveTo>
                  <a:lnTo>
                    <a:pt x="1342" y="8"/>
                  </a:lnTo>
                  <a:lnTo>
                    <a:pt x="1388" y="23"/>
                  </a:lnTo>
                  <a:lnTo>
                    <a:pt x="1433" y="47"/>
                  </a:lnTo>
                  <a:lnTo>
                    <a:pt x="1480" y="85"/>
                  </a:lnTo>
                  <a:lnTo>
                    <a:pt x="1528" y="134"/>
                  </a:lnTo>
                  <a:lnTo>
                    <a:pt x="2316" y="1077"/>
                  </a:lnTo>
                  <a:lnTo>
                    <a:pt x="2318" y="1081"/>
                  </a:lnTo>
                  <a:lnTo>
                    <a:pt x="2325" y="1090"/>
                  </a:lnTo>
                  <a:lnTo>
                    <a:pt x="2337" y="1105"/>
                  </a:lnTo>
                  <a:lnTo>
                    <a:pt x="2350" y="1126"/>
                  </a:lnTo>
                  <a:lnTo>
                    <a:pt x="2365" y="1151"/>
                  </a:lnTo>
                  <a:lnTo>
                    <a:pt x="2380" y="1179"/>
                  </a:lnTo>
                  <a:lnTo>
                    <a:pt x="2395" y="1213"/>
                  </a:lnTo>
                  <a:lnTo>
                    <a:pt x="2407" y="1249"/>
                  </a:lnTo>
                  <a:lnTo>
                    <a:pt x="2416" y="1287"/>
                  </a:lnTo>
                  <a:lnTo>
                    <a:pt x="2420" y="1328"/>
                  </a:lnTo>
                  <a:lnTo>
                    <a:pt x="2420" y="1370"/>
                  </a:lnTo>
                  <a:lnTo>
                    <a:pt x="2412" y="1413"/>
                  </a:lnTo>
                  <a:lnTo>
                    <a:pt x="2399" y="1457"/>
                  </a:lnTo>
                  <a:lnTo>
                    <a:pt x="2375" y="1500"/>
                  </a:lnTo>
                  <a:lnTo>
                    <a:pt x="2343" y="1544"/>
                  </a:lnTo>
                  <a:lnTo>
                    <a:pt x="2297" y="1587"/>
                  </a:lnTo>
                  <a:lnTo>
                    <a:pt x="2227" y="1644"/>
                  </a:lnTo>
                  <a:lnTo>
                    <a:pt x="2163" y="1699"/>
                  </a:lnTo>
                  <a:lnTo>
                    <a:pt x="2104" y="1748"/>
                  </a:lnTo>
                  <a:lnTo>
                    <a:pt x="2053" y="1791"/>
                  </a:lnTo>
                  <a:lnTo>
                    <a:pt x="2006" y="1829"/>
                  </a:lnTo>
                  <a:lnTo>
                    <a:pt x="1966" y="1863"/>
                  </a:lnTo>
                  <a:lnTo>
                    <a:pt x="1934" y="1890"/>
                  </a:lnTo>
                  <a:lnTo>
                    <a:pt x="1908" y="1912"/>
                  </a:lnTo>
                  <a:lnTo>
                    <a:pt x="1889" y="1927"/>
                  </a:lnTo>
                  <a:lnTo>
                    <a:pt x="1877" y="1937"/>
                  </a:lnTo>
                  <a:lnTo>
                    <a:pt x="1874" y="1941"/>
                  </a:lnTo>
                  <a:lnTo>
                    <a:pt x="440" y="2315"/>
                  </a:lnTo>
                  <a:lnTo>
                    <a:pt x="0" y="1797"/>
                  </a:lnTo>
                  <a:lnTo>
                    <a:pt x="633" y="444"/>
                  </a:lnTo>
                  <a:lnTo>
                    <a:pt x="1074" y="76"/>
                  </a:lnTo>
                  <a:lnTo>
                    <a:pt x="1078" y="74"/>
                  </a:lnTo>
                  <a:lnTo>
                    <a:pt x="1087" y="64"/>
                  </a:lnTo>
                  <a:lnTo>
                    <a:pt x="1104" y="55"/>
                  </a:lnTo>
                  <a:lnTo>
                    <a:pt x="1125" y="42"/>
                  </a:lnTo>
                  <a:lnTo>
                    <a:pt x="1151" y="29"/>
                  </a:lnTo>
                  <a:lnTo>
                    <a:pt x="1183" y="15"/>
                  </a:lnTo>
                  <a:lnTo>
                    <a:pt x="1217" y="6"/>
                  </a:lnTo>
                  <a:lnTo>
                    <a:pt x="1257" y="0"/>
                  </a:lnTo>
                  <a:lnTo>
                    <a:pt x="129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92000">
                  <a:schemeClr val="bg1">
                    <a:lumMod val="85000"/>
                  </a:schemeClr>
                </a:gs>
              </a:gsLst>
              <a:lin ang="11400000" scaled="0"/>
              <a:tileRect/>
            </a:gradFill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P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987"/>
              <a:endParaRPr lang="en-IN" sz="24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Freeform 8">
              <a:extLst>
                <a:ext uri="{FF2B5EF4-FFF2-40B4-BE49-F238E27FC236}">
                  <a16:creationId xmlns:a16="http://schemas.microsoft.com/office/drawing/2014/main" id="{BE91D87C-39C1-DEB1-58E3-F891A6A45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0304" y="3375222"/>
              <a:ext cx="2071088" cy="1745889"/>
            </a:xfrm>
            <a:custGeom>
              <a:avLst/>
              <a:gdLst>
                <a:gd name="T0" fmla="*/ 1596 w 2401"/>
                <a:gd name="T1" fmla="*/ 0 h 2024"/>
                <a:gd name="T2" fmla="*/ 2156 w 2401"/>
                <a:gd name="T3" fmla="*/ 121 h 2024"/>
                <a:gd name="T4" fmla="*/ 2159 w 2401"/>
                <a:gd name="T5" fmla="*/ 123 h 2024"/>
                <a:gd name="T6" fmla="*/ 2169 w 2401"/>
                <a:gd name="T7" fmla="*/ 125 h 2024"/>
                <a:gd name="T8" fmla="*/ 2182 w 2401"/>
                <a:gd name="T9" fmla="*/ 129 h 2024"/>
                <a:gd name="T10" fmla="*/ 2199 w 2401"/>
                <a:gd name="T11" fmla="*/ 134 h 2024"/>
                <a:gd name="T12" fmla="*/ 2218 w 2401"/>
                <a:gd name="T13" fmla="*/ 142 h 2024"/>
                <a:gd name="T14" fmla="*/ 2241 w 2401"/>
                <a:gd name="T15" fmla="*/ 153 h 2024"/>
                <a:gd name="T16" fmla="*/ 2265 w 2401"/>
                <a:gd name="T17" fmla="*/ 166 h 2024"/>
                <a:gd name="T18" fmla="*/ 2288 w 2401"/>
                <a:gd name="T19" fmla="*/ 183 h 2024"/>
                <a:gd name="T20" fmla="*/ 2313 w 2401"/>
                <a:gd name="T21" fmla="*/ 204 h 2024"/>
                <a:gd name="T22" fmla="*/ 2335 w 2401"/>
                <a:gd name="T23" fmla="*/ 227 h 2024"/>
                <a:gd name="T24" fmla="*/ 2356 w 2401"/>
                <a:gd name="T25" fmla="*/ 255 h 2024"/>
                <a:gd name="T26" fmla="*/ 2373 w 2401"/>
                <a:gd name="T27" fmla="*/ 285 h 2024"/>
                <a:gd name="T28" fmla="*/ 2386 w 2401"/>
                <a:gd name="T29" fmla="*/ 323 h 2024"/>
                <a:gd name="T30" fmla="*/ 2396 w 2401"/>
                <a:gd name="T31" fmla="*/ 363 h 2024"/>
                <a:gd name="T32" fmla="*/ 2401 w 2401"/>
                <a:gd name="T33" fmla="*/ 408 h 2024"/>
                <a:gd name="T34" fmla="*/ 2400 w 2401"/>
                <a:gd name="T35" fmla="*/ 459 h 2024"/>
                <a:gd name="T36" fmla="*/ 2390 w 2401"/>
                <a:gd name="T37" fmla="*/ 516 h 2024"/>
                <a:gd name="T38" fmla="*/ 2127 w 2401"/>
                <a:gd name="T39" fmla="*/ 1717 h 2024"/>
                <a:gd name="T40" fmla="*/ 2127 w 2401"/>
                <a:gd name="T41" fmla="*/ 1721 h 2024"/>
                <a:gd name="T42" fmla="*/ 2125 w 2401"/>
                <a:gd name="T43" fmla="*/ 1731 h 2024"/>
                <a:gd name="T44" fmla="*/ 2120 w 2401"/>
                <a:gd name="T45" fmla="*/ 1748 h 2024"/>
                <a:gd name="T46" fmla="*/ 2114 w 2401"/>
                <a:gd name="T47" fmla="*/ 1769 h 2024"/>
                <a:gd name="T48" fmla="*/ 2105 w 2401"/>
                <a:gd name="T49" fmla="*/ 1793 h 2024"/>
                <a:gd name="T50" fmla="*/ 2091 w 2401"/>
                <a:gd name="T51" fmla="*/ 1820 h 2024"/>
                <a:gd name="T52" fmla="*/ 2078 w 2401"/>
                <a:gd name="T53" fmla="*/ 1848 h 2024"/>
                <a:gd name="T54" fmla="*/ 2059 w 2401"/>
                <a:gd name="T55" fmla="*/ 1878 h 2024"/>
                <a:gd name="T56" fmla="*/ 2038 w 2401"/>
                <a:gd name="T57" fmla="*/ 1908 h 2024"/>
                <a:gd name="T58" fmla="*/ 2012 w 2401"/>
                <a:gd name="T59" fmla="*/ 1937 h 2024"/>
                <a:gd name="T60" fmla="*/ 1984 w 2401"/>
                <a:gd name="T61" fmla="*/ 1961 h 2024"/>
                <a:gd name="T62" fmla="*/ 1951 w 2401"/>
                <a:gd name="T63" fmla="*/ 1986 h 2024"/>
                <a:gd name="T64" fmla="*/ 1914 w 2401"/>
                <a:gd name="T65" fmla="*/ 2003 h 2024"/>
                <a:gd name="T66" fmla="*/ 1872 w 2401"/>
                <a:gd name="T67" fmla="*/ 2016 h 2024"/>
                <a:gd name="T68" fmla="*/ 1825 w 2401"/>
                <a:gd name="T69" fmla="*/ 2024 h 2024"/>
                <a:gd name="T70" fmla="*/ 1772 w 2401"/>
                <a:gd name="T71" fmla="*/ 2024 h 2024"/>
                <a:gd name="T72" fmla="*/ 1715 w 2401"/>
                <a:gd name="T73" fmla="*/ 2014 h 2024"/>
                <a:gd name="T74" fmla="*/ 1617 w 2401"/>
                <a:gd name="T75" fmla="*/ 1993 h 2024"/>
                <a:gd name="T76" fmla="*/ 1528 w 2401"/>
                <a:gd name="T77" fmla="*/ 1974 h 2024"/>
                <a:gd name="T78" fmla="*/ 1448 w 2401"/>
                <a:gd name="T79" fmla="*/ 1957 h 2024"/>
                <a:gd name="T80" fmla="*/ 1378 w 2401"/>
                <a:gd name="T81" fmla="*/ 1940 h 2024"/>
                <a:gd name="T82" fmla="*/ 1318 w 2401"/>
                <a:gd name="T83" fmla="*/ 1929 h 2024"/>
                <a:gd name="T84" fmla="*/ 1267 w 2401"/>
                <a:gd name="T85" fmla="*/ 1918 h 2024"/>
                <a:gd name="T86" fmla="*/ 1227 w 2401"/>
                <a:gd name="T87" fmla="*/ 1908 h 2024"/>
                <a:gd name="T88" fmla="*/ 1199 w 2401"/>
                <a:gd name="T89" fmla="*/ 1903 h 2024"/>
                <a:gd name="T90" fmla="*/ 1182 w 2401"/>
                <a:gd name="T91" fmla="*/ 1899 h 2024"/>
                <a:gd name="T92" fmla="*/ 1174 w 2401"/>
                <a:gd name="T93" fmla="*/ 1897 h 2024"/>
                <a:gd name="T94" fmla="*/ 0 w 2401"/>
                <a:gd name="T95" fmla="*/ 998 h 2024"/>
                <a:gd name="T96" fmla="*/ 138 w 2401"/>
                <a:gd name="T97" fmla="*/ 331 h 2024"/>
                <a:gd name="T98" fmla="*/ 1596 w 2401"/>
                <a:gd name="T99" fmla="*/ 0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01" h="2024">
                  <a:moveTo>
                    <a:pt x="1596" y="0"/>
                  </a:moveTo>
                  <a:lnTo>
                    <a:pt x="2156" y="121"/>
                  </a:lnTo>
                  <a:lnTo>
                    <a:pt x="2159" y="123"/>
                  </a:lnTo>
                  <a:lnTo>
                    <a:pt x="2169" y="125"/>
                  </a:lnTo>
                  <a:lnTo>
                    <a:pt x="2182" y="129"/>
                  </a:lnTo>
                  <a:lnTo>
                    <a:pt x="2199" y="134"/>
                  </a:lnTo>
                  <a:lnTo>
                    <a:pt x="2218" y="142"/>
                  </a:lnTo>
                  <a:lnTo>
                    <a:pt x="2241" y="153"/>
                  </a:lnTo>
                  <a:lnTo>
                    <a:pt x="2265" y="166"/>
                  </a:lnTo>
                  <a:lnTo>
                    <a:pt x="2288" y="183"/>
                  </a:lnTo>
                  <a:lnTo>
                    <a:pt x="2313" y="204"/>
                  </a:lnTo>
                  <a:lnTo>
                    <a:pt x="2335" y="227"/>
                  </a:lnTo>
                  <a:lnTo>
                    <a:pt x="2356" y="255"/>
                  </a:lnTo>
                  <a:lnTo>
                    <a:pt x="2373" y="285"/>
                  </a:lnTo>
                  <a:lnTo>
                    <a:pt x="2386" y="323"/>
                  </a:lnTo>
                  <a:lnTo>
                    <a:pt x="2396" y="363"/>
                  </a:lnTo>
                  <a:lnTo>
                    <a:pt x="2401" y="408"/>
                  </a:lnTo>
                  <a:lnTo>
                    <a:pt x="2400" y="459"/>
                  </a:lnTo>
                  <a:lnTo>
                    <a:pt x="2390" y="516"/>
                  </a:lnTo>
                  <a:lnTo>
                    <a:pt x="2127" y="1717"/>
                  </a:lnTo>
                  <a:lnTo>
                    <a:pt x="2127" y="1721"/>
                  </a:lnTo>
                  <a:lnTo>
                    <a:pt x="2125" y="1731"/>
                  </a:lnTo>
                  <a:lnTo>
                    <a:pt x="2120" y="1748"/>
                  </a:lnTo>
                  <a:lnTo>
                    <a:pt x="2114" y="1769"/>
                  </a:lnTo>
                  <a:lnTo>
                    <a:pt x="2105" y="1793"/>
                  </a:lnTo>
                  <a:lnTo>
                    <a:pt x="2091" y="1820"/>
                  </a:lnTo>
                  <a:lnTo>
                    <a:pt x="2078" y="1848"/>
                  </a:lnTo>
                  <a:lnTo>
                    <a:pt x="2059" y="1878"/>
                  </a:lnTo>
                  <a:lnTo>
                    <a:pt x="2038" y="1908"/>
                  </a:lnTo>
                  <a:lnTo>
                    <a:pt x="2012" y="1937"/>
                  </a:lnTo>
                  <a:lnTo>
                    <a:pt x="1984" y="1961"/>
                  </a:lnTo>
                  <a:lnTo>
                    <a:pt x="1951" y="1986"/>
                  </a:lnTo>
                  <a:lnTo>
                    <a:pt x="1914" y="2003"/>
                  </a:lnTo>
                  <a:lnTo>
                    <a:pt x="1872" y="2016"/>
                  </a:lnTo>
                  <a:lnTo>
                    <a:pt x="1825" y="2024"/>
                  </a:lnTo>
                  <a:lnTo>
                    <a:pt x="1772" y="2024"/>
                  </a:lnTo>
                  <a:lnTo>
                    <a:pt x="1715" y="2014"/>
                  </a:lnTo>
                  <a:lnTo>
                    <a:pt x="1617" y="1993"/>
                  </a:lnTo>
                  <a:lnTo>
                    <a:pt x="1528" y="1974"/>
                  </a:lnTo>
                  <a:lnTo>
                    <a:pt x="1448" y="1957"/>
                  </a:lnTo>
                  <a:lnTo>
                    <a:pt x="1378" y="1940"/>
                  </a:lnTo>
                  <a:lnTo>
                    <a:pt x="1318" y="1929"/>
                  </a:lnTo>
                  <a:lnTo>
                    <a:pt x="1267" y="1918"/>
                  </a:lnTo>
                  <a:lnTo>
                    <a:pt x="1227" y="1908"/>
                  </a:lnTo>
                  <a:lnTo>
                    <a:pt x="1199" y="1903"/>
                  </a:lnTo>
                  <a:lnTo>
                    <a:pt x="1182" y="1899"/>
                  </a:lnTo>
                  <a:lnTo>
                    <a:pt x="1174" y="1897"/>
                  </a:lnTo>
                  <a:lnTo>
                    <a:pt x="0" y="998"/>
                  </a:lnTo>
                  <a:lnTo>
                    <a:pt x="138" y="331"/>
                  </a:lnTo>
                  <a:lnTo>
                    <a:pt x="1596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89000">
                  <a:schemeClr val="bg1">
                    <a:lumMod val="85000"/>
                  </a:schemeClr>
                </a:gs>
              </a:gsLst>
              <a:lin ang="14400000" scaled="0"/>
              <a:tileRect/>
            </a:gradFill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P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987"/>
              <a:endParaRPr lang="en-IN" sz="24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Freeform 9">
              <a:extLst>
                <a:ext uri="{FF2B5EF4-FFF2-40B4-BE49-F238E27FC236}">
                  <a16:creationId xmlns:a16="http://schemas.microsoft.com/office/drawing/2014/main" id="{43C45A23-0BD7-2E98-539E-411181F31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8053" y="4282672"/>
              <a:ext cx="1781257" cy="2128880"/>
            </a:xfrm>
            <a:custGeom>
              <a:avLst/>
              <a:gdLst>
                <a:gd name="T0" fmla="*/ 607 w 2065"/>
                <a:gd name="T1" fmla="*/ 0 h 2468"/>
                <a:gd name="T2" fmla="*/ 1777 w 2065"/>
                <a:gd name="T3" fmla="*/ 930 h 2468"/>
                <a:gd name="T4" fmla="*/ 2033 w 2065"/>
                <a:gd name="T5" fmla="*/ 1444 h 2468"/>
                <a:gd name="T6" fmla="*/ 2033 w 2065"/>
                <a:gd name="T7" fmla="*/ 1448 h 2468"/>
                <a:gd name="T8" fmla="*/ 2038 w 2065"/>
                <a:gd name="T9" fmla="*/ 1455 h 2468"/>
                <a:gd name="T10" fmla="*/ 2044 w 2065"/>
                <a:gd name="T11" fmla="*/ 1470 h 2468"/>
                <a:gd name="T12" fmla="*/ 2050 w 2065"/>
                <a:gd name="T13" fmla="*/ 1489 h 2468"/>
                <a:gd name="T14" fmla="*/ 2055 w 2065"/>
                <a:gd name="T15" fmla="*/ 1512 h 2468"/>
                <a:gd name="T16" fmla="*/ 2061 w 2065"/>
                <a:gd name="T17" fmla="*/ 1540 h 2468"/>
                <a:gd name="T18" fmla="*/ 2065 w 2065"/>
                <a:gd name="T19" fmla="*/ 1569 h 2468"/>
                <a:gd name="T20" fmla="*/ 2065 w 2065"/>
                <a:gd name="T21" fmla="*/ 1601 h 2468"/>
                <a:gd name="T22" fmla="*/ 2063 w 2065"/>
                <a:gd name="T23" fmla="*/ 1635 h 2468"/>
                <a:gd name="T24" fmla="*/ 2055 w 2065"/>
                <a:gd name="T25" fmla="*/ 1671 h 2468"/>
                <a:gd name="T26" fmla="*/ 2042 w 2065"/>
                <a:gd name="T27" fmla="*/ 1705 h 2468"/>
                <a:gd name="T28" fmla="*/ 2023 w 2065"/>
                <a:gd name="T29" fmla="*/ 1741 h 2468"/>
                <a:gd name="T30" fmla="*/ 1999 w 2065"/>
                <a:gd name="T31" fmla="*/ 1776 h 2468"/>
                <a:gd name="T32" fmla="*/ 1965 w 2065"/>
                <a:gd name="T33" fmla="*/ 1810 h 2468"/>
                <a:gd name="T34" fmla="*/ 1921 w 2065"/>
                <a:gd name="T35" fmla="*/ 1843 h 2468"/>
                <a:gd name="T36" fmla="*/ 1868 w 2065"/>
                <a:gd name="T37" fmla="*/ 1873 h 2468"/>
                <a:gd name="T38" fmla="*/ 768 w 2065"/>
                <a:gd name="T39" fmla="*/ 2419 h 2468"/>
                <a:gd name="T40" fmla="*/ 764 w 2065"/>
                <a:gd name="T41" fmla="*/ 2421 h 2468"/>
                <a:gd name="T42" fmla="*/ 754 w 2065"/>
                <a:gd name="T43" fmla="*/ 2424 h 2468"/>
                <a:gd name="T44" fmla="*/ 739 w 2065"/>
                <a:gd name="T45" fmla="*/ 2432 h 2468"/>
                <a:gd name="T46" fmla="*/ 719 w 2065"/>
                <a:gd name="T47" fmla="*/ 2440 h 2468"/>
                <a:gd name="T48" fmla="*/ 694 w 2065"/>
                <a:gd name="T49" fmla="*/ 2447 h 2468"/>
                <a:gd name="T50" fmla="*/ 664 w 2065"/>
                <a:gd name="T51" fmla="*/ 2455 h 2468"/>
                <a:gd name="T52" fmla="*/ 632 w 2065"/>
                <a:gd name="T53" fmla="*/ 2460 h 2468"/>
                <a:gd name="T54" fmla="*/ 597 w 2065"/>
                <a:gd name="T55" fmla="*/ 2466 h 2468"/>
                <a:gd name="T56" fmla="*/ 562 w 2065"/>
                <a:gd name="T57" fmla="*/ 2468 h 2468"/>
                <a:gd name="T58" fmla="*/ 524 w 2065"/>
                <a:gd name="T59" fmla="*/ 2466 h 2468"/>
                <a:gd name="T60" fmla="*/ 486 w 2065"/>
                <a:gd name="T61" fmla="*/ 2458 h 2468"/>
                <a:gd name="T62" fmla="*/ 446 w 2065"/>
                <a:gd name="T63" fmla="*/ 2447 h 2468"/>
                <a:gd name="T64" fmla="*/ 408 w 2065"/>
                <a:gd name="T65" fmla="*/ 2430 h 2468"/>
                <a:gd name="T66" fmla="*/ 372 w 2065"/>
                <a:gd name="T67" fmla="*/ 2406 h 2468"/>
                <a:gd name="T68" fmla="*/ 338 w 2065"/>
                <a:gd name="T69" fmla="*/ 2373 h 2468"/>
                <a:gd name="T70" fmla="*/ 306 w 2065"/>
                <a:gd name="T71" fmla="*/ 2332 h 2468"/>
                <a:gd name="T72" fmla="*/ 276 w 2065"/>
                <a:gd name="T73" fmla="*/ 2283 h 2468"/>
                <a:gd name="T74" fmla="*/ 236 w 2065"/>
                <a:gd name="T75" fmla="*/ 2201 h 2468"/>
                <a:gd name="T76" fmla="*/ 199 w 2065"/>
                <a:gd name="T77" fmla="*/ 2126 h 2468"/>
                <a:gd name="T78" fmla="*/ 164 w 2065"/>
                <a:gd name="T79" fmla="*/ 2058 h 2468"/>
                <a:gd name="T80" fmla="*/ 134 w 2065"/>
                <a:gd name="T81" fmla="*/ 1996 h 2468"/>
                <a:gd name="T82" fmla="*/ 108 w 2065"/>
                <a:gd name="T83" fmla="*/ 1943 h 2468"/>
                <a:gd name="T84" fmla="*/ 85 w 2065"/>
                <a:gd name="T85" fmla="*/ 1895 h 2468"/>
                <a:gd name="T86" fmla="*/ 66 w 2065"/>
                <a:gd name="T87" fmla="*/ 1858 h 2468"/>
                <a:gd name="T88" fmla="*/ 51 w 2065"/>
                <a:gd name="T89" fmla="*/ 1827 h 2468"/>
                <a:gd name="T90" fmla="*/ 40 w 2065"/>
                <a:gd name="T91" fmla="*/ 1805 h 2468"/>
                <a:gd name="T92" fmla="*/ 34 w 2065"/>
                <a:gd name="T93" fmla="*/ 1792 h 2468"/>
                <a:gd name="T94" fmla="*/ 30 w 2065"/>
                <a:gd name="T95" fmla="*/ 1788 h 2468"/>
                <a:gd name="T96" fmla="*/ 0 w 2065"/>
                <a:gd name="T97" fmla="*/ 308 h 2468"/>
                <a:gd name="T98" fmla="*/ 607 w 2065"/>
                <a:gd name="T99" fmla="*/ 0 h 2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065" h="2468">
                  <a:moveTo>
                    <a:pt x="607" y="0"/>
                  </a:moveTo>
                  <a:lnTo>
                    <a:pt x="1777" y="930"/>
                  </a:lnTo>
                  <a:lnTo>
                    <a:pt x="2033" y="1444"/>
                  </a:lnTo>
                  <a:lnTo>
                    <a:pt x="2033" y="1448"/>
                  </a:lnTo>
                  <a:lnTo>
                    <a:pt x="2038" y="1455"/>
                  </a:lnTo>
                  <a:lnTo>
                    <a:pt x="2044" y="1470"/>
                  </a:lnTo>
                  <a:lnTo>
                    <a:pt x="2050" y="1489"/>
                  </a:lnTo>
                  <a:lnTo>
                    <a:pt x="2055" y="1512"/>
                  </a:lnTo>
                  <a:lnTo>
                    <a:pt x="2061" y="1540"/>
                  </a:lnTo>
                  <a:lnTo>
                    <a:pt x="2065" y="1569"/>
                  </a:lnTo>
                  <a:lnTo>
                    <a:pt x="2065" y="1601"/>
                  </a:lnTo>
                  <a:lnTo>
                    <a:pt x="2063" y="1635"/>
                  </a:lnTo>
                  <a:lnTo>
                    <a:pt x="2055" y="1671"/>
                  </a:lnTo>
                  <a:lnTo>
                    <a:pt x="2042" y="1705"/>
                  </a:lnTo>
                  <a:lnTo>
                    <a:pt x="2023" y="1741"/>
                  </a:lnTo>
                  <a:lnTo>
                    <a:pt x="1999" y="1776"/>
                  </a:lnTo>
                  <a:lnTo>
                    <a:pt x="1965" y="1810"/>
                  </a:lnTo>
                  <a:lnTo>
                    <a:pt x="1921" y="1843"/>
                  </a:lnTo>
                  <a:lnTo>
                    <a:pt x="1868" y="1873"/>
                  </a:lnTo>
                  <a:lnTo>
                    <a:pt x="768" y="2419"/>
                  </a:lnTo>
                  <a:lnTo>
                    <a:pt x="764" y="2421"/>
                  </a:lnTo>
                  <a:lnTo>
                    <a:pt x="754" y="2424"/>
                  </a:lnTo>
                  <a:lnTo>
                    <a:pt x="739" y="2432"/>
                  </a:lnTo>
                  <a:lnTo>
                    <a:pt x="719" y="2440"/>
                  </a:lnTo>
                  <a:lnTo>
                    <a:pt x="694" y="2447"/>
                  </a:lnTo>
                  <a:lnTo>
                    <a:pt x="664" y="2455"/>
                  </a:lnTo>
                  <a:lnTo>
                    <a:pt x="632" y="2460"/>
                  </a:lnTo>
                  <a:lnTo>
                    <a:pt x="597" y="2466"/>
                  </a:lnTo>
                  <a:lnTo>
                    <a:pt x="562" y="2468"/>
                  </a:lnTo>
                  <a:lnTo>
                    <a:pt x="524" y="2466"/>
                  </a:lnTo>
                  <a:lnTo>
                    <a:pt x="486" y="2458"/>
                  </a:lnTo>
                  <a:lnTo>
                    <a:pt x="446" y="2447"/>
                  </a:lnTo>
                  <a:lnTo>
                    <a:pt x="408" y="2430"/>
                  </a:lnTo>
                  <a:lnTo>
                    <a:pt x="372" y="2406"/>
                  </a:lnTo>
                  <a:lnTo>
                    <a:pt x="338" y="2373"/>
                  </a:lnTo>
                  <a:lnTo>
                    <a:pt x="306" y="2332"/>
                  </a:lnTo>
                  <a:lnTo>
                    <a:pt x="276" y="2283"/>
                  </a:lnTo>
                  <a:lnTo>
                    <a:pt x="236" y="2201"/>
                  </a:lnTo>
                  <a:lnTo>
                    <a:pt x="199" y="2126"/>
                  </a:lnTo>
                  <a:lnTo>
                    <a:pt x="164" y="2058"/>
                  </a:lnTo>
                  <a:lnTo>
                    <a:pt x="134" y="1996"/>
                  </a:lnTo>
                  <a:lnTo>
                    <a:pt x="108" y="1943"/>
                  </a:lnTo>
                  <a:lnTo>
                    <a:pt x="85" y="1895"/>
                  </a:lnTo>
                  <a:lnTo>
                    <a:pt x="66" y="1858"/>
                  </a:lnTo>
                  <a:lnTo>
                    <a:pt x="51" y="1827"/>
                  </a:lnTo>
                  <a:lnTo>
                    <a:pt x="40" y="1805"/>
                  </a:lnTo>
                  <a:lnTo>
                    <a:pt x="34" y="1792"/>
                  </a:lnTo>
                  <a:lnTo>
                    <a:pt x="30" y="1788"/>
                  </a:lnTo>
                  <a:lnTo>
                    <a:pt x="0" y="308"/>
                  </a:lnTo>
                  <a:lnTo>
                    <a:pt x="60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89000">
                  <a:schemeClr val="bg1">
                    <a:lumMod val="85000"/>
                  </a:schemeClr>
                </a:gs>
              </a:gsLst>
              <a:lin ang="12600000" scaled="0"/>
              <a:tileRect/>
            </a:gradFill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P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987"/>
              <a:endParaRPr lang="en-IN" sz="24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Freeform 10">
              <a:extLst>
                <a:ext uri="{FF2B5EF4-FFF2-40B4-BE49-F238E27FC236}">
                  <a16:creationId xmlns:a16="http://schemas.microsoft.com/office/drawing/2014/main" id="{484692A3-6999-FB9C-0FBD-CA48169AD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766" y="4302511"/>
              <a:ext cx="1765730" cy="2136644"/>
            </a:xfrm>
            <a:custGeom>
              <a:avLst/>
              <a:gdLst>
                <a:gd name="T0" fmla="*/ 1433 w 2047"/>
                <a:gd name="T1" fmla="*/ 0 h 2477"/>
                <a:gd name="T2" fmla="*/ 2047 w 2047"/>
                <a:gd name="T3" fmla="*/ 291 h 2477"/>
                <a:gd name="T4" fmla="*/ 2027 w 2047"/>
                <a:gd name="T5" fmla="*/ 1784 h 2477"/>
                <a:gd name="T6" fmla="*/ 1777 w 2047"/>
                <a:gd name="T7" fmla="*/ 2299 h 2477"/>
                <a:gd name="T8" fmla="*/ 1775 w 2047"/>
                <a:gd name="T9" fmla="*/ 2303 h 2477"/>
                <a:gd name="T10" fmla="*/ 1769 w 2047"/>
                <a:gd name="T11" fmla="*/ 2311 h 2477"/>
                <a:gd name="T12" fmla="*/ 1762 w 2047"/>
                <a:gd name="T13" fmla="*/ 2324 h 2477"/>
                <a:gd name="T14" fmla="*/ 1750 w 2047"/>
                <a:gd name="T15" fmla="*/ 2341 h 2477"/>
                <a:gd name="T16" fmla="*/ 1737 w 2047"/>
                <a:gd name="T17" fmla="*/ 2360 h 2477"/>
                <a:gd name="T18" fmla="*/ 1718 w 2047"/>
                <a:gd name="T19" fmla="*/ 2381 h 2477"/>
                <a:gd name="T20" fmla="*/ 1698 w 2047"/>
                <a:gd name="T21" fmla="*/ 2401 h 2477"/>
                <a:gd name="T22" fmla="*/ 1673 w 2047"/>
                <a:gd name="T23" fmla="*/ 2422 h 2477"/>
                <a:gd name="T24" fmla="*/ 1645 w 2047"/>
                <a:gd name="T25" fmla="*/ 2441 h 2477"/>
                <a:gd name="T26" fmla="*/ 1612 w 2047"/>
                <a:gd name="T27" fmla="*/ 2456 h 2477"/>
                <a:gd name="T28" fmla="*/ 1577 w 2047"/>
                <a:gd name="T29" fmla="*/ 2469 h 2477"/>
                <a:gd name="T30" fmla="*/ 1537 w 2047"/>
                <a:gd name="T31" fmla="*/ 2475 h 2477"/>
                <a:gd name="T32" fmla="*/ 1493 w 2047"/>
                <a:gd name="T33" fmla="*/ 2477 h 2477"/>
                <a:gd name="T34" fmla="*/ 1444 w 2047"/>
                <a:gd name="T35" fmla="*/ 2469 h 2477"/>
                <a:gd name="T36" fmla="*/ 1393 w 2047"/>
                <a:gd name="T37" fmla="*/ 2456 h 2477"/>
                <a:gd name="T38" fmla="*/ 1336 w 2047"/>
                <a:gd name="T39" fmla="*/ 2434 h 2477"/>
                <a:gd name="T40" fmla="*/ 230 w 2047"/>
                <a:gd name="T41" fmla="*/ 1897 h 2477"/>
                <a:gd name="T42" fmla="*/ 228 w 2047"/>
                <a:gd name="T43" fmla="*/ 1895 h 2477"/>
                <a:gd name="T44" fmla="*/ 219 w 2047"/>
                <a:gd name="T45" fmla="*/ 1889 h 2477"/>
                <a:gd name="T46" fmla="*/ 204 w 2047"/>
                <a:gd name="T47" fmla="*/ 1882 h 2477"/>
                <a:gd name="T48" fmla="*/ 185 w 2047"/>
                <a:gd name="T49" fmla="*/ 1871 h 2477"/>
                <a:gd name="T50" fmla="*/ 164 w 2047"/>
                <a:gd name="T51" fmla="*/ 1855 h 2477"/>
                <a:gd name="T52" fmla="*/ 139 w 2047"/>
                <a:gd name="T53" fmla="*/ 1837 h 2477"/>
                <a:gd name="T54" fmla="*/ 115 w 2047"/>
                <a:gd name="T55" fmla="*/ 1816 h 2477"/>
                <a:gd name="T56" fmla="*/ 90 w 2047"/>
                <a:gd name="T57" fmla="*/ 1791 h 2477"/>
                <a:gd name="T58" fmla="*/ 66 w 2047"/>
                <a:gd name="T59" fmla="*/ 1763 h 2477"/>
                <a:gd name="T60" fmla="*/ 45 w 2047"/>
                <a:gd name="T61" fmla="*/ 1733 h 2477"/>
                <a:gd name="T62" fmla="*/ 26 w 2047"/>
                <a:gd name="T63" fmla="*/ 1699 h 2477"/>
                <a:gd name="T64" fmla="*/ 13 w 2047"/>
                <a:gd name="T65" fmla="*/ 1661 h 2477"/>
                <a:gd name="T66" fmla="*/ 3 w 2047"/>
                <a:gd name="T67" fmla="*/ 1619 h 2477"/>
                <a:gd name="T68" fmla="*/ 0 w 2047"/>
                <a:gd name="T69" fmla="*/ 1576 h 2477"/>
                <a:gd name="T70" fmla="*/ 5 w 2047"/>
                <a:gd name="T71" fmla="*/ 1529 h 2477"/>
                <a:gd name="T72" fmla="*/ 17 w 2047"/>
                <a:gd name="T73" fmla="*/ 1479 h 2477"/>
                <a:gd name="T74" fmla="*/ 39 w 2047"/>
                <a:gd name="T75" fmla="*/ 1425 h 2477"/>
                <a:gd name="T76" fmla="*/ 79 w 2047"/>
                <a:gd name="T77" fmla="*/ 1343 h 2477"/>
                <a:gd name="T78" fmla="*/ 115 w 2047"/>
                <a:gd name="T79" fmla="*/ 1268 h 2477"/>
                <a:gd name="T80" fmla="*/ 149 w 2047"/>
                <a:gd name="T81" fmla="*/ 1200 h 2477"/>
                <a:gd name="T82" fmla="*/ 179 w 2047"/>
                <a:gd name="T83" fmla="*/ 1137 h 2477"/>
                <a:gd name="T84" fmla="*/ 204 w 2047"/>
                <a:gd name="T85" fmla="*/ 1085 h 2477"/>
                <a:gd name="T86" fmla="*/ 226 w 2047"/>
                <a:gd name="T87" fmla="*/ 1037 h 2477"/>
                <a:gd name="T88" fmla="*/ 245 w 2047"/>
                <a:gd name="T89" fmla="*/ 1000 h 2477"/>
                <a:gd name="T90" fmla="*/ 260 w 2047"/>
                <a:gd name="T91" fmla="*/ 967 h 2477"/>
                <a:gd name="T92" fmla="*/ 272 w 2047"/>
                <a:gd name="T93" fmla="*/ 947 h 2477"/>
                <a:gd name="T94" fmla="*/ 277 w 2047"/>
                <a:gd name="T95" fmla="*/ 933 h 2477"/>
                <a:gd name="T96" fmla="*/ 279 w 2047"/>
                <a:gd name="T97" fmla="*/ 928 h 2477"/>
                <a:gd name="T98" fmla="*/ 1433 w 2047"/>
                <a:gd name="T99" fmla="*/ 0 h 2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047" h="2477">
                  <a:moveTo>
                    <a:pt x="1433" y="0"/>
                  </a:moveTo>
                  <a:lnTo>
                    <a:pt x="2047" y="291"/>
                  </a:lnTo>
                  <a:lnTo>
                    <a:pt x="2027" y="1784"/>
                  </a:lnTo>
                  <a:lnTo>
                    <a:pt x="1777" y="2299"/>
                  </a:lnTo>
                  <a:lnTo>
                    <a:pt x="1775" y="2303"/>
                  </a:lnTo>
                  <a:lnTo>
                    <a:pt x="1769" y="2311"/>
                  </a:lnTo>
                  <a:lnTo>
                    <a:pt x="1762" y="2324"/>
                  </a:lnTo>
                  <a:lnTo>
                    <a:pt x="1750" y="2341"/>
                  </a:lnTo>
                  <a:lnTo>
                    <a:pt x="1737" y="2360"/>
                  </a:lnTo>
                  <a:lnTo>
                    <a:pt x="1718" y="2381"/>
                  </a:lnTo>
                  <a:lnTo>
                    <a:pt x="1698" y="2401"/>
                  </a:lnTo>
                  <a:lnTo>
                    <a:pt x="1673" y="2422"/>
                  </a:lnTo>
                  <a:lnTo>
                    <a:pt x="1645" y="2441"/>
                  </a:lnTo>
                  <a:lnTo>
                    <a:pt x="1612" y="2456"/>
                  </a:lnTo>
                  <a:lnTo>
                    <a:pt x="1577" y="2469"/>
                  </a:lnTo>
                  <a:lnTo>
                    <a:pt x="1537" y="2475"/>
                  </a:lnTo>
                  <a:lnTo>
                    <a:pt x="1493" y="2477"/>
                  </a:lnTo>
                  <a:lnTo>
                    <a:pt x="1444" y="2469"/>
                  </a:lnTo>
                  <a:lnTo>
                    <a:pt x="1393" y="2456"/>
                  </a:lnTo>
                  <a:lnTo>
                    <a:pt x="1336" y="2434"/>
                  </a:lnTo>
                  <a:lnTo>
                    <a:pt x="230" y="1897"/>
                  </a:lnTo>
                  <a:lnTo>
                    <a:pt x="228" y="1895"/>
                  </a:lnTo>
                  <a:lnTo>
                    <a:pt x="219" y="1889"/>
                  </a:lnTo>
                  <a:lnTo>
                    <a:pt x="204" y="1882"/>
                  </a:lnTo>
                  <a:lnTo>
                    <a:pt x="185" y="1871"/>
                  </a:lnTo>
                  <a:lnTo>
                    <a:pt x="164" y="1855"/>
                  </a:lnTo>
                  <a:lnTo>
                    <a:pt x="139" y="1837"/>
                  </a:lnTo>
                  <a:lnTo>
                    <a:pt x="115" y="1816"/>
                  </a:lnTo>
                  <a:lnTo>
                    <a:pt x="90" y="1791"/>
                  </a:lnTo>
                  <a:lnTo>
                    <a:pt x="66" y="1763"/>
                  </a:lnTo>
                  <a:lnTo>
                    <a:pt x="45" y="1733"/>
                  </a:lnTo>
                  <a:lnTo>
                    <a:pt x="26" y="1699"/>
                  </a:lnTo>
                  <a:lnTo>
                    <a:pt x="13" y="1661"/>
                  </a:lnTo>
                  <a:lnTo>
                    <a:pt x="3" y="1619"/>
                  </a:lnTo>
                  <a:lnTo>
                    <a:pt x="0" y="1576"/>
                  </a:lnTo>
                  <a:lnTo>
                    <a:pt x="5" y="1529"/>
                  </a:lnTo>
                  <a:lnTo>
                    <a:pt x="17" y="1479"/>
                  </a:lnTo>
                  <a:lnTo>
                    <a:pt x="39" y="1425"/>
                  </a:lnTo>
                  <a:lnTo>
                    <a:pt x="79" y="1343"/>
                  </a:lnTo>
                  <a:lnTo>
                    <a:pt x="115" y="1268"/>
                  </a:lnTo>
                  <a:lnTo>
                    <a:pt x="149" y="1200"/>
                  </a:lnTo>
                  <a:lnTo>
                    <a:pt x="179" y="1137"/>
                  </a:lnTo>
                  <a:lnTo>
                    <a:pt x="204" y="1085"/>
                  </a:lnTo>
                  <a:lnTo>
                    <a:pt x="226" y="1037"/>
                  </a:lnTo>
                  <a:lnTo>
                    <a:pt x="245" y="1000"/>
                  </a:lnTo>
                  <a:lnTo>
                    <a:pt x="260" y="967"/>
                  </a:lnTo>
                  <a:lnTo>
                    <a:pt x="272" y="947"/>
                  </a:lnTo>
                  <a:lnTo>
                    <a:pt x="277" y="933"/>
                  </a:lnTo>
                  <a:lnTo>
                    <a:pt x="279" y="928"/>
                  </a:lnTo>
                  <a:lnTo>
                    <a:pt x="143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91000">
                  <a:schemeClr val="bg1">
                    <a:lumMod val="85000"/>
                  </a:schemeClr>
                </a:gs>
              </a:gsLst>
              <a:lin ang="13800000" scaled="0"/>
              <a:tileRect/>
            </a:gradFill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P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987"/>
              <a:endParaRPr lang="en-IN" sz="24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Freeform 11">
              <a:extLst>
                <a:ext uri="{FF2B5EF4-FFF2-40B4-BE49-F238E27FC236}">
                  <a16:creationId xmlns:a16="http://schemas.microsoft.com/office/drawing/2014/main" id="{DB2D7D86-2FD9-8C2A-AC42-2E4E4A108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432" y="3399375"/>
              <a:ext cx="2065050" cy="1749339"/>
            </a:xfrm>
            <a:custGeom>
              <a:avLst/>
              <a:gdLst>
                <a:gd name="T0" fmla="*/ 804 w 2394"/>
                <a:gd name="T1" fmla="*/ 0 h 2028"/>
                <a:gd name="T2" fmla="*/ 2246 w 2394"/>
                <a:gd name="T3" fmla="*/ 339 h 2028"/>
                <a:gd name="T4" fmla="*/ 2394 w 2394"/>
                <a:gd name="T5" fmla="*/ 1002 h 2028"/>
                <a:gd name="T6" fmla="*/ 1201 w 2394"/>
                <a:gd name="T7" fmla="*/ 1903 h 2028"/>
                <a:gd name="T8" fmla="*/ 639 w 2394"/>
                <a:gd name="T9" fmla="*/ 2022 h 2028"/>
                <a:gd name="T10" fmla="*/ 635 w 2394"/>
                <a:gd name="T11" fmla="*/ 2022 h 2028"/>
                <a:gd name="T12" fmla="*/ 626 w 2394"/>
                <a:gd name="T13" fmla="*/ 2024 h 2028"/>
                <a:gd name="T14" fmla="*/ 611 w 2394"/>
                <a:gd name="T15" fmla="*/ 2026 h 2028"/>
                <a:gd name="T16" fmla="*/ 592 w 2394"/>
                <a:gd name="T17" fmla="*/ 2028 h 2028"/>
                <a:gd name="T18" fmla="*/ 567 w 2394"/>
                <a:gd name="T19" fmla="*/ 2028 h 2028"/>
                <a:gd name="T20" fmla="*/ 539 w 2394"/>
                <a:gd name="T21" fmla="*/ 2026 h 2028"/>
                <a:gd name="T22" fmla="*/ 511 w 2394"/>
                <a:gd name="T23" fmla="*/ 2022 h 2028"/>
                <a:gd name="T24" fmla="*/ 478 w 2394"/>
                <a:gd name="T25" fmla="*/ 2014 h 2028"/>
                <a:gd name="T26" fmla="*/ 446 w 2394"/>
                <a:gd name="T27" fmla="*/ 2005 h 2028"/>
                <a:gd name="T28" fmla="*/ 414 w 2394"/>
                <a:gd name="T29" fmla="*/ 1988 h 2028"/>
                <a:gd name="T30" fmla="*/ 384 w 2394"/>
                <a:gd name="T31" fmla="*/ 1967 h 2028"/>
                <a:gd name="T32" fmla="*/ 354 w 2394"/>
                <a:gd name="T33" fmla="*/ 1941 h 2028"/>
                <a:gd name="T34" fmla="*/ 325 w 2394"/>
                <a:gd name="T35" fmla="*/ 1907 h 2028"/>
                <a:gd name="T36" fmla="*/ 301 w 2394"/>
                <a:gd name="T37" fmla="*/ 1865 h 2028"/>
                <a:gd name="T38" fmla="*/ 280 w 2394"/>
                <a:gd name="T39" fmla="*/ 1816 h 2028"/>
                <a:gd name="T40" fmla="*/ 265 w 2394"/>
                <a:gd name="T41" fmla="*/ 1758 h 2028"/>
                <a:gd name="T42" fmla="*/ 9 w 2394"/>
                <a:gd name="T43" fmla="*/ 556 h 2028"/>
                <a:gd name="T44" fmla="*/ 9 w 2394"/>
                <a:gd name="T45" fmla="*/ 552 h 2028"/>
                <a:gd name="T46" fmla="*/ 8 w 2394"/>
                <a:gd name="T47" fmla="*/ 541 h 2028"/>
                <a:gd name="T48" fmla="*/ 4 w 2394"/>
                <a:gd name="T49" fmla="*/ 524 h 2028"/>
                <a:gd name="T50" fmla="*/ 2 w 2394"/>
                <a:gd name="T51" fmla="*/ 503 h 2028"/>
                <a:gd name="T52" fmla="*/ 0 w 2394"/>
                <a:gd name="T53" fmla="*/ 477 h 2028"/>
                <a:gd name="T54" fmla="*/ 0 w 2394"/>
                <a:gd name="T55" fmla="*/ 446 h 2028"/>
                <a:gd name="T56" fmla="*/ 2 w 2394"/>
                <a:gd name="T57" fmla="*/ 414 h 2028"/>
                <a:gd name="T58" fmla="*/ 6 w 2394"/>
                <a:gd name="T59" fmla="*/ 380 h 2028"/>
                <a:gd name="T60" fmla="*/ 13 w 2394"/>
                <a:gd name="T61" fmla="*/ 344 h 2028"/>
                <a:gd name="T62" fmla="*/ 25 w 2394"/>
                <a:gd name="T63" fmla="*/ 308 h 2028"/>
                <a:gd name="T64" fmla="*/ 40 w 2394"/>
                <a:gd name="T65" fmla="*/ 273 h 2028"/>
                <a:gd name="T66" fmla="*/ 61 w 2394"/>
                <a:gd name="T67" fmla="*/ 239 h 2028"/>
                <a:gd name="T68" fmla="*/ 87 w 2394"/>
                <a:gd name="T69" fmla="*/ 206 h 2028"/>
                <a:gd name="T70" fmla="*/ 121 w 2394"/>
                <a:gd name="T71" fmla="*/ 176 h 2028"/>
                <a:gd name="T72" fmla="*/ 161 w 2394"/>
                <a:gd name="T73" fmla="*/ 152 h 2028"/>
                <a:gd name="T74" fmla="*/ 208 w 2394"/>
                <a:gd name="T75" fmla="*/ 129 h 2028"/>
                <a:gd name="T76" fmla="*/ 263 w 2394"/>
                <a:gd name="T77" fmla="*/ 114 h 2028"/>
                <a:gd name="T78" fmla="*/ 361 w 2394"/>
                <a:gd name="T79" fmla="*/ 93 h 2028"/>
                <a:gd name="T80" fmla="*/ 450 w 2394"/>
                <a:gd name="T81" fmla="*/ 74 h 2028"/>
                <a:gd name="T82" fmla="*/ 529 w 2394"/>
                <a:gd name="T83" fmla="*/ 57 h 2028"/>
                <a:gd name="T84" fmla="*/ 601 w 2394"/>
                <a:gd name="T85" fmla="*/ 42 h 2028"/>
                <a:gd name="T86" fmla="*/ 662 w 2394"/>
                <a:gd name="T87" fmla="*/ 31 h 2028"/>
                <a:gd name="T88" fmla="*/ 713 w 2394"/>
                <a:gd name="T89" fmla="*/ 19 h 2028"/>
                <a:gd name="T90" fmla="*/ 753 w 2394"/>
                <a:gd name="T91" fmla="*/ 10 h 2028"/>
                <a:gd name="T92" fmla="*/ 781 w 2394"/>
                <a:gd name="T93" fmla="*/ 4 h 2028"/>
                <a:gd name="T94" fmla="*/ 798 w 2394"/>
                <a:gd name="T95" fmla="*/ 0 h 2028"/>
                <a:gd name="T96" fmla="*/ 804 w 2394"/>
                <a:gd name="T97" fmla="*/ 0 h 2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394" h="2028">
                  <a:moveTo>
                    <a:pt x="804" y="0"/>
                  </a:moveTo>
                  <a:lnTo>
                    <a:pt x="2246" y="339"/>
                  </a:lnTo>
                  <a:lnTo>
                    <a:pt x="2394" y="1002"/>
                  </a:lnTo>
                  <a:lnTo>
                    <a:pt x="1201" y="1903"/>
                  </a:lnTo>
                  <a:lnTo>
                    <a:pt x="639" y="2022"/>
                  </a:lnTo>
                  <a:lnTo>
                    <a:pt x="635" y="2022"/>
                  </a:lnTo>
                  <a:lnTo>
                    <a:pt x="626" y="2024"/>
                  </a:lnTo>
                  <a:lnTo>
                    <a:pt x="611" y="2026"/>
                  </a:lnTo>
                  <a:lnTo>
                    <a:pt x="592" y="2028"/>
                  </a:lnTo>
                  <a:lnTo>
                    <a:pt x="567" y="2028"/>
                  </a:lnTo>
                  <a:lnTo>
                    <a:pt x="539" y="2026"/>
                  </a:lnTo>
                  <a:lnTo>
                    <a:pt x="511" y="2022"/>
                  </a:lnTo>
                  <a:lnTo>
                    <a:pt x="478" y="2014"/>
                  </a:lnTo>
                  <a:lnTo>
                    <a:pt x="446" y="2005"/>
                  </a:lnTo>
                  <a:lnTo>
                    <a:pt x="414" y="1988"/>
                  </a:lnTo>
                  <a:lnTo>
                    <a:pt x="384" y="1967"/>
                  </a:lnTo>
                  <a:lnTo>
                    <a:pt x="354" y="1941"/>
                  </a:lnTo>
                  <a:lnTo>
                    <a:pt x="325" y="1907"/>
                  </a:lnTo>
                  <a:lnTo>
                    <a:pt x="301" y="1865"/>
                  </a:lnTo>
                  <a:lnTo>
                    <a:pt x="280" y="1816"/>
                  </a:lnTo>
                  <a:lnTo>
                    <a:pt x="265" y="1758"/>
                  </a:lnTo>
                  <a:lnTo>
                    <a:pt x="9" y="556"/>
                  </a:lnTo>
                  <a:lnTo>
                    <a:pt x="9" y="552"/>
                  </a:lnTo>
                  <a:lnTo>
                    <a:pt x="8" y="541"/>
                  </a:lnTo>
                  <a:lnTo>
                    <a:pt x="4" y="524"/>
                  </a:lnTo>
                  <a:lnTo>
                    <a:pt x="2" y="503"/>
                  </a:lnTo>
                  <a:lnTo>
                    <a:pt x="0" y="477"/>
                  </a:lnTo>
                  <a:lnTo>
                    <a:pt x="0" y="446"/>
                  </a:lnTo>
                  <a:lnTo>
                    <a:pt x="2" y="414"/>
                  </a:lnTo>
                  <a:lnTo>
                    <a:pt x="6" y="380"/>
                  </a:lnTo>
                  <a:lnTo>
                    <a:pt x="13" y="344"/>
                  </a:lnTo>
                  <a:lnTo>
                    <a:pt x="25" y="308"/>
                  </a:lnTo>
                  <a:lnTo>
                    <a:pt x="40" y="273"/>
                  </a:lnTo>
                  <a:lnTo>
                    <a:pt x="61" y="239"/>
                  </a:lnTo>
                  <a:lnTo>
                    <a:pt x="87" y="206"/>
                  </a:lnTo>
                  <a:lnTo>
                    <a:pt x="121" y="176"/>
                  </a:lnTo>
                  <a:lnTo>
                    <a:pt x="161" y="152"/>
                  </a:lnTo>
                  <a:lnTo>
                    <a:pt x="208" y="129"/>
                  </a:lnTo>
                  <a:lnTo>
                    <a:pt x="263" y="114"/>
                  </a:lnTo>
                  <a:lnTo>
                    <a:pt x="361" y="93"/>
                  </a:lnTo>
                  <a:lnTo>
                    <a:pt x="450" y="74"/>
                  </a:lnTo>
                  <a:lnTo>
                    <a:pt x="529" y="57"/>
                  </a:lnTo>
                  <a:lnTo>
                    <a:pt x="601" y="42"/>
                  </a:lnTo>
                  <a:lnTo>
                    <a:pt x="662" y="31"/>
                  </a:lnTo>
                  <a:lnTo>
                    <a:pt x="713" y="19"/>
                  </a:lnTo>
                  <a:lnTo>
                    <a:pt x="753" y="10"/>
                  </a:lnTo>
                  <a:lnTo>
                    <a:pt x="781" y="4"/>
                  </a:lnTo>
                  <a:lnTo>
                    <a:pt x="798" y="0"/>
                  </a:lnTo>
                  <a:lnTo>
                    <a:pt x="80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94000">
                  <a:schemeClr val="bg1">
                    <a:lumMod val="85000"/>
                  </a:schemeClr>
                </a:gs>
              </a:gsLst>
              <a:lin ang="9600000" scaled="0"/>
              <a:tileRect/>
            </a:gradFill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P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987"/>
              <a:endParaRPr lang="en-IN" sz="24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Freeform 12">
              <a:extLst>
                <a:ext uri="{FF2B5EF4-FFF2-40B4-BE49-F238E27FC236}">
                  <a16:creationId xmlns:a16="http://schemas.microsoft.com/office/drawing/2014/main" id="{DD889062-1D3C-3C82-2542-BFFCD0382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180" y="1621570"/>
              <a:ext cx="2099554" cy="1984828"/>
            </a:xfrm>
            <a:custGeom>
              <a:avLst/>
              <a:gdLst>
                <a:gd name="T0" fmla="*/ 1178 w 2434"/>
                <a:gd name="T1" fmla="*/ 0 h 2301"/>
                <a:gd name="T2" fmla="*/ 1227 w 2434"/>
                <a:gd name="T3" fmla="*/ 4 h 2301"/>
                <a:gd name="T4" fmla="*/ 1276 w 2434"/>
                <a:gd name="T5" fmla="*/ 19 h 2301"/>
                <a:gd name="T6" fmla="*/ 1329 w 2434"/>
                <a:gd name="T7" fmla="*/ 44 h 2301"/>
                <a:gd name="T8" fmla="*/ 1382 w 2434"/>
                <a:gd name="T9" fmla="*/ 81 h 2301"/>
                <a:gd name="T10" fmla="*/ 1452 w 2434"/>
                <a:gd name="T11" fmla="*/ 140 h 2301"/>
                <a:gd name="T12" fmla="*/ 1517 w 2434"/>
                <a:gd name="T13" fmla="*/ 193 h 2301"/>
                <a:gd name="T14" fmla="*/ 1575 w 2434"/>
                <a:gd name="T15" fmla="*/ 242 h 2301"/>
                <a:gd name="T16" fmla="*/ 1628 w 2434"/>
                <a:gd name="T17" fmla="*/ 286 h 2301"/>
                <a:gd name="T18" fmla="*/ 1673 w 2434"/>
                <a:gd name="T19" fmla="*/ 323 h 2301"/>
                <a:gd name="T20" fmla="*/ 1713 w 2434"/>
                <a:gd name="T21" fmla="*/ 357 h 2301"/>
                <a:gd name="T22" fmla="*/ 1747 w 2434"/>
                <a:gd name="T23" fmla="*/ 384 h 2301"/>
                <a:gd name="T24" fmla="*/ 1772 w 2434"/>
                <a:gd name="T25" fmla="*/ 406 h 2301"/>
                <a:gd name="T26" fmla="*/ 1791 w 2434"/>
                <a:gd name="T27" fmla="*/ 422 h 2301"/>
                <a:gd name="T28" fmla="*/ 1804 w 2434"/>
                <a:gd name="T29" fmla="*/ 431 h 2301"/>
                <a:gd name="T30" fmla="*/ 1808 w 2434"/>
                <a:gd name="T31" fmla="*/ 435 h 2301"/>
                <a:gd name="T32" fmla="*/ 2434 w 2434"/>
                <a:gd name="T33" fmla="*/ 1774 h 2301"/>
                <a:gd name="T34" fmla="*/ 2004 w 2434"/>
                <a:gd name="T35" fmla="*/ 2301 h 2301"/>
                <a:gd name="T36" fmla="*/ 558 w 2434"/>
                <a:gd name="T37" fmla="*/ 1925 h 2301"/>
                <a:gd name="T38" fmla="*/ 117 w 2434"/>
                <a:gd name="T39" fmla="*/ 1559 h 2301"/>
                <a:gd name="T40" fmla="*/ 113 w 2434"/>
                <a:gd name="T41" fmla="*/ 1557 h 2301"/>
                <a:gd name="T42" fmla="*/ 106 w 2434"/>
                <a:gd name="T43" fmla="*/ 1549 h 2301"/>
                <a:gd name="T44" fmla="*/ 93 w 2434"/>
                <a:gd name="T45" fmla="*/ 1536 h 2301"/>
                <a:gd name="T46" fmla="*/ 78 w 2434"/>
                <a:gd name="T47" fmla="*/ 1519 h 2301"/>
                <a:gd name="T48" fmla="*/ 62 w 2434"/>
                <a:gd name="T49" fmla="*/ 1498 h 2301"/>
                <a:gd name="T50" fmla="*/ 45 w 2434"/>
                <a:gd name="T51" fmla="*/ 1474 h 2301"/>
                <a:gd name="T52" fmla="*/ 28 w 2434"/>
                <a:gd name="T53" fmla="*/ 1446 h 2301"/>
                <a:gd name="T54" fmla="*/ 15 w 2434"/>
                <a:gd name="T55" fmla="*/ 1412 h 2301"/>
                <a:gd name="T56" fmla="*/ 6 w 2434"/>
                <a:gd name="T57" fmla="*/ 1376 h 2301"/>
                <a:gd name="T58" fmla="*/ 0 w 2434"/>
                <a:gd name="T59" fmla="*/ 1338 h 2301"/>
                <a:gd name="T60" fmla="*/ 2 w 2434"/>
                <a:gd name="T61" fmla="*/ 1294 h 2301"/>
                <a:gd name="T62" fmla="*/ 9 w 2434"/>
                <a:gd name="T63" fmla="*/ 1249 h 2301"/>
                <a:gd name="T64" fmla="*/ 27 w 2434"/>
                <a:gd name="T65" fmla="*/ 1202 h 2301"/>
                <a:gd name="T66" fmla="*/ 55 w 2434"/>
                <a:gd name="T67" fmla="*/ 1153 h 2301"/>
                <a:gd name="T68" fmla="*/ 93 w 2434"/>
                <a:gd name="T69" fmla="*/ 1102 h 2301"/>
                <a:gd name="T70" fmla="*/ 877 w 2434"/>
                <a:gd name="T71" fmla="*/ 155 h 2301"/>
                <a:gd name="T72" fmla="*/ 881 w 2434"/>
                <a:gd name="T73" fmla="*/ 151 h 2301"/>
                <a:gd name="T74" fmla="*/ 891 w 2434"/>
                <a:gd name="T75" fmla="*/ 142 h 2301"/>
                <a:gd name="T76" fmla="*/ 904 w 2434"/>
                <a:gd name="T77" fmla="*/ 127 h 2301"/>
                <a:gd name="T78" fmla="*/ 925 w 2434"/>
                <a:gd name="T79" fmla="*/ 108 h 2301"/>
                <a:gd name="T80" fmla="*/ 949 w 2434"/>
                <a:gd name="T81" fmla="*/ 87 h 2301"/>
                <a:gd name="T82" fmla="*/ 978 w 2434"/>
                <a:gd name="T83" fmla="*/ 66 h 2301"/>
                <a:gd name="T84" fmla="*/ 1012 w 2434"/>
                <a:gd name="T85" fmla="*/ 46 h 2301"/>
                <a:gd name="T86" fmla="*/ 1049 w 2434"/>
                <a:gd name="T87" fmla="*/ 27 h 2301"/>
                <a:gd name="T88" fmla="*/ 1089 w 2434"/>
                <a:gd name="T89" fmla="*/ 12 h 2301"/>
                <a:gd name="T90" fmla="*/ 1133 w 2434"/>
                <a:gd name="T91" fmla="*/ 2 h 2301"/>
                <a:gd name="T92" fmla="*/ 1178 w 2434"/>
                <a:gd name="T93" fmla="*/ 0 h 2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34" h="2301">
                  <a:moveTo>
                    <a:pt x="1178" y="0"/>
                  </a:moveTo>
                  <a:lnTo>
                    <a:pt x="1227" y="4"/>
                  </a:lnTo>
                  <a:lnTo>
                    <a:pt x="1276" y="19"/>
                  </a:lnTo>
                  <a:lnTo>
                    <a:pt x="1329" y="44"/>
                  </a:lnTo>
                  <a:lnTo>
                    <a:pt x="1382" y="81"/>
                  </a:lnTo>
                  <a:lnTo>
                    <a:pt x="1452" y="140"/>
                  </a:lnTo>
                  <a:lnTo>
                    <a:pt x="1517" y="193"/>
                  </a:lnTo>
                  <a:lnTo>
                    <a:pt x="1575" y="242"/>
                  </a:lnTo>
                  <a:lnTo>
                    <a:pt x="1628" y="286"/>
                  </a:lnTo>
                  <a:lnTo>
                    <a:pt x="1673" y="323"/>
                  </a:lnTo>
                  <a:lnTo>
                    <a:pt x="1713" y="357"/>
                  </a:lnTo>
                  <a:lnTo>
                    <a:pt x="1747" y="384"/>
                  </a:lnTo>
                  <a:lnTo>
                    <a:pt x="1772" y="406"/>
                  </a:lnTo>
                  <a:lnTo>
                    <a:pt x="1791" y="422"/>
                  </a:lnTo>
                  <a:lnTo>
                    <a:pt x="1804" y="431"/>
                  </a:lnTo>
                  <a:lnTo>
                    <a:pt x="1808" y="435"/>
                  </a:lnTo>
                  <a:lnTo>
                    <a:pt x="2434" y="1774"/>
                  </a:lnTo>
                  <a:lnTo>
                    <a:pt x="2004" y="2301"/>
                  </a:lnTo>
                  <a:lnTo>
                    <a:pt x="558" y="1925"/>
                  </a:lnTo>
                  <a:lnTo>
                    <a:pt x="117" y="1559"/>
                  </a:lnTo>
                  <a:lnTo>
                    <a:pt x="113" y="1557"/>
                  </a:lnTo>
                  <a:lnTo>
                    <a:pt x="106" y="1549"/>
                  </a:lnTo>
                  <a:lnTo>
                    <a:pt x="93" y="1536"/>
                  </a:lnTo>
                  <a:lnTo>
                    <a:pt x="78" y="1519"/>
                  </a:lnTo>
                  <a:lnTo>
                    <a:pt x="62" y="1498"/>
                  </a:lnTo>
                  <a:lnTo>
                    <a:pt x="45" y="1474"/>
                  </a:lnTo>
                  <a:lnTo>
                    <a:pt x="28" y="1446"/>
                  </a:lnTo>
                  <a:lnTo>
                    <a:pt x="15" y="1412"/>
                  </a:lnTo>
                  <a:lnTo>
                    <a:pt x="6" y="1376"/>
                  </a:lnTo>
                  <a:lnTo>
                    <a:pt x="0" y="1338"/>
                  </a:lnTo>
                  <a:lnTo>
                    <a:pt x="2" y="1294"/>
                  </a:lnTo>
                  <a:lnTo>
                    <a:pt x="9" y="1249"/>
                  </a:lnTo>
                  <a:lnTo>
                    <a:pt x="27" y="1202"/>
                  </a:lnTo>
                  <a:lnTo>
                    <a:pt x="55" y="1153"/>
                  </a:lnTo>
                  <a:lnTo>
                    <a:pt x="93" y="1102"/>
                  </a:lnTo>
                  <a:lnTo>
                    <a:pt x="877" y="155"/>
                  </a:lnTo>
                  <a:lnTo>
                    <a:pt x="881" y="151"/>
                  </a:lnTo>
                  <a:lnTo>
                    <a:pt x="891" y="142"/>
                  </a:lnTo>
                  <a:lnTo>
                    <a:pt x="904" y="127"/>
                  </a:lnTo>
                  <a:lnTo>
                    <a:pt x="925" y="108"/>
                  </a:lnTo>
                  <a:lnTo>
                    <a:pt x="949" y="87"/>
                  </a:lnTo>
                  <a:lnTo>
                    <a:pt x="978" y="66"/>
                  </a:lnTo>
                  <a:lnTo>
                    <a:pt x="1012" y="46"/>
                  </a:lnTo>
                  <a:lnTo>
                    <a:pt x="1049" y="27"/>
                  </a:lnTo>
                  <a:lnTo>
                    <a:pt x="1089" y="12"/>
                  </a:lnTo>
                  <a:lnTo>
                    <a:pt x="1133" y="2"/>
                  </a:lnTo>
                  <a:lnTo>
                    <a:pt x="1178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93000">
                  <a:schemeClr val="bg1">
                    <a:lumMod val="85000"/>
                  </a:schemeClr>
                </a:gs>
              </a:gsLst>
              <a:lin ang="12000000" scaled="0"/>
              <a:tileRect/>
            </a:gradFill>
            <a:ln w="19050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P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987"/>
              <a:endParaRPr lang="en-IN" sz="24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7" name="Freeform 13">
            <a:extLst>
              <a:ext uri="{FF2B5EF4-FFF2-40B4-BE49-F238E27FC236}">
                <a16:creationId xmlns:a16="http://schemas.microsoft.com/office/drawing/2014/main" id="{49A1516F-1CB6-3A1A-DB32-53C33B6AB7DF}"/>
              </a:ext>
            </a:extLst>
          </p:cNvPr>
          <p:cNvSpPr>
            <a:spLocks/>
          </p:cNvSpPr>
          <p:nvPr/>
        </p:nvSpPr>
        <p:spPr bwMode="auto">
          <a:xfrm>
            <a:off x="6909933" y="2947919"/>
            <a:ext cx="734046" cy="773037"/>
          </a:xfrm>
          <a:custGeom>
            <a:avLst/>
            <a:gdLst>
              <a:gd name="T0" fmla="*/ 344 w 866"/>
              <a:gd name="T1" fmla="*/ 0 h 912"/>
              <a:gd name="T2" fmla="*/ 371 w 866"/>
              <a:gd name="T3" fmla="*/ 5 h 912"/>
              <a:gd name="T4" fmla="*/ 395 w 866"/>
              <a:gd name="T5" fmla="*/ 18 h 912"/>
              <a:gd name="T6" fmla="*/ 416 w 866"/>
              <a:gd name="T7" fmla="*/ 37 h 912"/>
              <a:gd name="T8" fmla="*/ 842 w 866"/>
              <a:gd name="T9" fmla="*/ 547 h 912"/>
              <a:gd name="T10" fmla="*/ 857 w 866"/>
              <a:gd name="T11" fmla="*/ 572 h 912"/>
              <a:gd name="T12" fmla="*/ 864 w 866"/>
              <a:gd name="T13" fmla="*/ 598 h 912"/>
              <a:gd name="T14" fmla="*/ 866 w 866"/>
              <a:gd name="T15" fmla="*/ 625 h 912"/>
              <a:gd name="T16" fmla="*/ 861 w 866"/>
              <a:gd name="T17" fmla="*/ 651 h 912"/>
              <a:gd name="T18" fmla="*/ 847 w 866"/>
              <a:gd name="T19" fmla="*/ 676 h 912"/>
              <a:gd name="T20" fmla="*/ 828 w 866"/>
              <a:gd name="T21" fmla="*/ 697 h 912"/>
              <a:gd name="T22" fmla="*/ 600 w 866"/>
              <a:gd name="T23" fmla="*/ 887 h 912"/>
              <a:gd name="T24" fmla="*/ 577 w 866"/>
              <a:gd name="T25" fmla="*/ 903 h 912"/>
              <a:gd name="T26" fmla="*/ 550 w 866"/>
              <a:gd name="T27" fmla="*/ 910 h 912"/>
              <a:gd name="T28" fmla="*/ 522 w 866"/>
              <a:gd name="T29" fmla="*/ 912 h 912"/>
              <a:gd name="T30" fmla="*/ 496 w 866"/>
              <a:gd name="T31" fmla="*/ 906 h 912"/>
              <a:gd name="T32" fmla="*/ 471 w 866"/>
              <a:gd name="T33" fmla="*/ 893 h 912"/>
              <a:gd name="T34" fmla="*/ 450 w 866"/>
              <a:gd name="T35" fmla="*/ 874 h 912"/>
              <a:gd name="T36" fmla="*/ 25 w 866"/>
              <a:gd name="T37" fmla="*/ 364 h 912"/>
              <a:gd name="T38" fmla="*/ 10 w 866"/>
              <a:gd name="T39" fmla="*/ 340 h 912"/>
              <a:gd name="T40" fmla="*/ 2 w 866"/>
              <a:gd name="T41" fmla="*/ 313 h 912"/>
              <a:gd name="T42" fmla="*/ 0 w 866"/>
              <a:gd name="T43" fmla="*/ 287 h 912"/>
              <a:gd name="T44" fmla="*/ 6 w 866"/>
              <a:gd name="T45" fmla="*/ 260 h 912"/>
              <a:gd name="T46" fmla="*/ 19 w 866"/>
              <a:gd name="T47" fmla="*/ 236 h 912"/>
              <a:gd name="T48" fmla="*/ 38 w 866"/>
              <a:gd name="T49" fmla="*/ 215 h 912"/>
              <a:gd name="T50" fmla="*/ 267 w 866"/>
              <a:gd name="T51" fmla="*/ 24 h 912"/>
              <a:gd name="T52" fmla="*/ 291 w 866"/>
              <a:gd name="T53" fmla="*/ 9 h 912"/>
              <a:gd name="T54" fmla="*/ 318 w 866"/>
              <a:gd name="T55" fmla="*/ 1 h 912"/>
              <a:gd name="T56" fmla="*/ 344 w 866"/>
              <a:gd name="T57" fmla="*/ 0 h 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866" h="912">
                <a:moveTo>
                  <a:pt x="344" y="0"/>
                </a:moveTo>
                <a:lnTo>
                  <a:pt x="371" y="5"/>
                </a:lnTo>
                <a:lnTo>
                  <a:pt x="395" y="18"/>
                </a:lnTo>
                <a:lnTo>
                  <a:pt x="416" y="37"/>
                </a:lnTo>
                <a:lnTo>
                  <a:pt x="842" y="547"/>
                </a:lnTo>
                <a:lnTo>
                  <a:pt x="857" y="572"/>
                </a:lnTo>
                <a:lnTo>
                  <a:pt x="864" y="598"/>
                </a:lnTo>
                <a:lnTo>
                  <a:pt x="866" y="625"/>
                </a:lnTo>
                <a:lnTo>
                  <a:pt x="861" y="651"/>
                </a:lnTo>
                <a:lnTo>
                  <a:pt x="847" y="676"/>
                </a:lnTo>
                <a:lnTo>
                  <a:pt x="828" y="697"/>
                </a:lnTo>
                <a:lnTo>
                  <a:pt x="600" y="887"/>
                </a:lnTo>
                <a:lnTo>
                  <a:pt x="577" y="903"/>
                </a:lnTo>
                <a:lnTo>
                  <a:pt x="550" y="910"/>
                </a:lnTo>
                <a:lnTo>
                  <a:pt x="522" y="912"/>
                </a:lnTo>
                <a:lnTo>
                  <a:pt x="496" y="906"/>
                </a:lnTo>
                <a:lnTo>
                  <a:pt x="471" y="893"/>
                </a:lnTo>
                <a:lnTo>
                  <a:pt x="450" y="874"/>
                </a:lnTo>
                <a:lnTo>
                  <a:pt x="25" y="364"/>
                </a:lnTo>
                <a:lnTo>
                  <a:pt x="10" y="340"/>
                </a:lnTo>
                <a:lnTo>
                  <a:pt x="2" y="313"/>
                </a:lnTo>
                <a:lnTo>
                  <a:pt x="0" y="287"/>
                </a:lnTo>
                <a:lnTo>
                  <a:pt x="6" y="260"/>
                </a:lnTo>
                <a:lnTo>
                  <a:pt x="19" y="236"/>
                </a:lnTo>
                <a:lnTo>
                  <a:pt x="38" y="215"/>
                </a:lnTo>
                <a:lnTo>
                  <a:pt x="267" y="24"/>
                </a:lnTo>
                <a:lnTo>
                  <a:pt x="291" y="9"/>
                </a:lnTo>
                <a:lnTo>
                  <a:pt x="318" y="1"/>
                </a:lnTo>
                <a:lnTo>
                  <a:pt x="34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" name="Freeform 14">
            <a:extLst>
              <a:ext uri="{FF2B5EF4-FFF2-40B4-BE49-F238E27FC236}">
                <a16:creationId xmlns:a16="http://schemas.microsoft.com/office/drawing/2014/main" id="{C3F4450F-1381-CE8D-76EA-0ABB1E9EA82C}"/>
              </a:ext>
            </a:extLst>
          </p:cNvPr>
          <p:cNvSpPr>
            <a:spLocks/>
          </p:cNvSpPr>
          <p:nvPr/>
        </p:nvSpPr>
        <p:spPr bwMode="auto">
          <a:xfrm>
            <a:off x="7174394" y="3726042"/>
            <a:ext cx="545025" cy="783208"/>
          </a:xfrm>
          <a:custGeom>
            <a:avLst/>
            <a:gdLst>
              <a:gd name="T0" fmla="*/ 240 w 643"/>
              <a:gd name="T1" fmla="*/ 0 h 924"/>
              <a:gd name="T2" fmla="*/ 269 w 643"/>
              <a:gd name="T3" fmla="*/ 2 h 924"/>
              <a:gd name="T4" fmla="*/ 560 w 643"/>
              <a:gd name="T5" fmla="*/ 64 h 924"/>
              <a:gd name="T6" fmla="*/ 586 w 643"/>
              <a:gd name="T7" fmla="*/ 73 h 924"/>
              <a:gd name="T8" fmla="*/ 609 w 643"/>
              <a:gd name="T9" fmla="*/ 90 h 924"/>
              <a:gd name="T10" fmla="*/ 626 w 643"/>
              <a:gd name="T11" fmla="*/ 111 h 924"/>
              <a:gd name="T12" fmla="*/ 639 w 643"/>
              <a:gd name="T13" fmla="*/ 136 h 924"/>
              <a:gd name="T14" fmla="*/ 643 w 643"/>
              <a:gd name="T15" fmla="*/ 162 h 924"/>
              <a:gd name="T16" fmla="*/ 641 w 643"/>
              <a:gd name="T17" fmla="*/ 191 h 924"/>
              <a:gd name="T18" fmla="*/ 499 w 643"/>
              <a:gd name="T19" fmla="*/ 839 h 924"/>
              <a:gd name="T20" fmla="*/ 490 w 643"/>
              <a:gd name="T21" fmla="*/ 867 h 924"/>
              <a:gd name="T22" fmla="*/ 475 w 643"/>
              <a:gd name="T23" fmla="*/ 888 h 924"/>
              <a:gd name="T24" fmla="*/ 454 w 643"/>
              <a:gd name="T25" fmla="*/ 907 h 924"/>
              <a:gd name="T26" fmla="*/ 429 w 643"/>
              <a:gd name="T27" fmla="*/ 918 h 924"/>
              <a:gd name="T28" fmla="*/ 403 w 643"/>
              <a:gd name="T29" fmla="*/ 924 h 924"/>
              <a:gd name="T30" fmla="*/ 375 w 643"/>
              <a:gd name="T31" fmla="*/ 920 h 924"/>
              <a:gd name="T32" fmla="*/ 83 w 643"/>
              <a:gd name="T33" fmla="*/ 857 h 924"/>
              <a:gd name="T34" fmla="*/ 57 w 643"/>
              <a:gd name="T35" fmla="*/ 848 h 924"/>
              <a:gd name="T36" fmla="*/ 34 w 643"/>
              <a:gd name="T37" fmla="*/ 831 h 924"/>
              <a:gd name="T38" fmla="*/ 15 w 643"/>
              <a:gd name="T39" fmla="*/ 810 h 924"/>
              <a:gd name="T40" fmla="*/ 4 w 643"/>
              <a:gd name="T41" fmla="*/ 786 h 924"/>
              <a:gd name="T42" fmla="*/ 0 w 643"/>
              <a:gd name="T43" fmla="*/ 759 h 924"/>
              <a:gd name="T44" fmla="*/ 2 w 643"/>
              <a:gd name="T45" fmla="*/ 731 h 924"/>
              <a:gd name="T46" fmla="*/ 142 w 643"/>
              <a:gd name="T47" fmla="*/ 83 h 924"/>
              <a:gd name="T48" fmla="*/ 153 w 643"/>
              <a:gd name="T49" fmla="*/ 56 h 924"/>
              <a:gd name="T50" fmla="*/ 168 w 643"/>
              <a:gd name="T51" fmla="*/ 34 h 924"/>
              <a:gd name="T52" fmla="*/ 189 w 643"/>
              <a:gd name="T53" fmla="*/ 15 h 924"/>
              <a:gd name="T54" fmla="*/ 214 w 643"/>
              <a:gd name="T55" fmla="*/ 4 h 924"/>
              <a:gd name="T56" fmla="*/ 240 w 643"/>
              <a:gd name="T57" fmla="*/ 0 h 9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643" h="924">
                <a:moveTo>
                  <a:pt x="240" y="0"/>
                </a:moveTo>
                <a:lnTo>
                  <a:pt x="269" y="2"/>
                </a:lnTo>
                <a:lnTo>
                  <a:pt x="560" y="64"/>
                </a:lnTo>
                <a:lnTo>
                  <a:pt x="586" y="73"/>
                </a:lnTo>
                <a:lnTo>
                  <a:pt x="609" y="90"/>
                </a:lnTo>
                <a:lnTo>
                  <a:pt x="626" y="111"/>
                </a:lnTo>
                <a:lnTo>
                  <a:pt x="639" y="136"/>
                </a:lnTo>
                <a:lnTo>
                  <a:pt x="643" y="162"/>
                </a:lnTo>
                <a:lnTo>
                  <a:pt x="641" y="191"/>
                </a:lnTo>
                <a:lnTo>
                  <a:pt x="499" y="839"/>
                </a:lnTo>
                <a:lnTo>
                  <a:pt x="490" y="867"/>
                </a:lnTo>
                <a:lnTo>
                  <a:pt x="475" y="888"/>
                </a:lnTo>
                <a:lnTo>
                  <a:pt x="454" y="907"/>
                </a:lnTo>
                <a:lnTo>
                  <a:pt x="429" y="918"/>
                </a:lnTo>
                <a:lnTo>
                  <a:pt x="403" y="924"/>
                </a:lnTo>
                <a:lnTo>
                  <a:pt x="375" y="920"/>
                </a:lnTo>
                <a:lnTo>
                  <a:pt x="83" y="857"/>
                </a:lnTo>
                <a:lnTo>
                  <a:pt x="57" y="848"/>
                </a:lnTo>
                <a:lnTo>
                  <a:pt x="34" y="831"/>
                </a:lnTo>
                <a:lnTo>
                  <a:pt x="15" y="810"/>
                </a:lnTo>
                <a:lnTo>
                  <a:pt x="4" y="786"/>
                </a:lnTo>
                <a:lnTo>
                  <a:pt x="0" y="759"/>
                </a:lnTo>
                <a:lnTo>
                  <a:pt x="2" y="731"/>
                </a:lnTo>
                <a:lnTo>
                  <a:pt x="142" y="83"/>
                </a:lnTo>
                <a:lnTo>
                  <a:pt x="153" y="56"/>
                </a:lnTo>
                <a:lnTo>
                  <a:pt x="168" y="34"/>
                </a:lnTo>
                <a:lnTo>
                  <a:pt x="189" y="15"/>
                </a:lnTo>
                <a:lnTo>
                  <a:pt x="214" y="4"/>
                </a:lnTo>
                <a:lnTo>
                  <a:pt x="240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Freeform 15">
            <a:extLst>
              <a:ext uri="{FF2B5EF4-FFF2-40B4-BE49-F238E27FC236}">
                <a16:creationId xmlns:a16="http://schemas.microsoft.com/office/drawing/2014/main" id="{3C51AACC-E1D6-8E71-869D-DB7B3AF95AF0}"/>
              </a:ext>
            </a:extLst>
          </p:cNvPr>
          <p:cNvSpPr>
            <a:spLocks/>
          </p:cNvSpPr>
          <p:nvPr/>
        </p:nvSpPr>
        <p:spPr bwMode="auto">
          <a:xfrm>
            <a:off x="6544606" y="4417708"/>
            <a:ext cx="796771" cy="655217"/>
          </a:xfrm>
          <a:custGeom>
            <a:avLst/>
            <a:gdLst>
              <a:gd name="T0" fmla="*/ 709 w 940"/>
              <a:gd name="T1" fmla="*/ 0 h 773"/>
              <a:gd name="T2" fmla="*/ 736 w 940"/>
              <a:gd name="T3" fmla="*/ 6 h 773"/>
              <a:gd name="T4" fmla="*/ 760 w 940"/>
              <a:gd name="T5" fmla="*/ 17 h 773"/>
              <a:gd name="T6" fmla="*/ 781 w 940"/>
              <a:gd name="T7" fmla="*/ 36 h 773"/>
              <a:gd name="T8" fmla="*/ 798 w 940"/>
              <a:gd name="T9" fmla="*/ 58 h 773"/>
              <a:gd name="T10" fmla="*/ 930 w 940"/>
              <a:gd name="T11" fmla="*/ 325 h 773"/>
              <a:gd name="T12" fmla="*/ 938 w 940"/>
              <a:gd name="T13" fmla="*/ 351 h 773"/>
              <a:gd name="T14" fmla="*/ 940 w 940"/>
              <a:gd name="T15" fmla="*/ 380 h 773"/>
              <a:gd name="T16" fmla="*/ 934 w 940"/>
              <a:gd name="T17" fmla="*/ 406 h 773"/>
              <a:gd name="T18" fmla="*/ 923 w 940"/>
              <a:gd name="T19" fmla="*/ 431 h 773"/>
              <a:gd name="T20" fmla="*/ 906 w 940"/>
              <a:gd name="T21" fmla="*/ 451 h 773"/>
              <a:gd name="T22" fmla="*/ 881 w 940"/>
              <a:gd name="T23" fmla="*/ 468 h 773"/>
              <a:gd name="T24" fmla="*/ 286 w 940"/>
              <a:gd name="T25" fmla="*/ 763 h 773"/>
              <a:gd name="T26" fmla="*/ 259 w 940"/>
              <a:gd name="T27" fmla="*/ 771 h 773"/>
              <a:gd name="T28" fmla="*/ 233 w 940"/>
              <a:gd name="T29" fmla="*/ 773 h 773"/>
              <a:gd name="T30" fmla="*/ 204 w 940"/>
              <a:gd name="T31" fmla="*/ 769 h 773"/>
              <a:gd name="T32" fmla="*/ 182 w 940"/>
              <a:gd name="T33" fmla="*/ 756 h 773"/>
              <a:gd name="T34" fmla="*/ 159 w 940"/>
              <a:gd name="T35" fmla="*/ 739 h 773"/>
              <a:gd name="T36" fmla="*/ 144 w 940"/>
              <a:gd name="T37" fmla="*/ 714 h 773"/>
              <a:gd name="T38" fmla="*/ 11 w 940"/>
              <a:gd name="T39" fmla="*/ 448 h 773"/>
              <a:gd name="T40" fmla="*/ 2 w 940"/>
              <a:gd name="T41" fmla="*/ 421 h 773"/>
              <a:gd name="T42" fmla="*/ 0 w 940"/>
              <a:gd name="T43" fmla="*/ 393 h 773"/>
              <a:gd name="T44" fmla="*/ 6 w 940"/>
              <a:gd name="T45" fmla="*/ 366 h 773"/>
              <a:gd name="T46" fmla="*/ 19 w 940"/>
              <a:gd name="T47" fmla="*/ 342 h 773"/>
              <a:gd name="T48" fmla="*/ 36 w 940"/>
              <a:gd name="T49" fmla="*/ 321 h 773"/>
              <a:gd name="T50" fmla="*/ 59 w 940"/>
              <a:gd name="T51" fmla="*/ 306 h 773"/>
              <a:gd name="T52" fmla="*/ 654 w 940"/>
              <a:gd name="T53" fmla="*/ 11 h 773"/>
              <a:gd name="T54" fmla="*/ 681 w 940"/>
              <a:gd name="T55" fmla="*/ 2 h 773"/>
              <a:gd name="T56" fmla="*/ 709 w 940"/>
              <a:gd name="T57" fmla="*/ 0 h 7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940" h="773">
                <a:moveTo>
                  <a:pt x="709" y="0"/>
                </a:moveTo>
                <a:lnTo>
                  <a:pt x="736" y="6"/>
                </a:lnTo>
                <a:lnTo>
                  <a:pt x="760" y="17"/>
                </a:lnTo>
                <a:lnTo>
                  <a:pt x="781" y="36"/>
                </a:lnTo>
                <a:lnTo>
                  <a:pt x="798" y="58"/>
                </a:lnTo>
                <a:lnTo>
                  <a:pt x="930" y="325"/>
                </a:lnTo>
                <a:lnTo>
                  <a:pt x="938" y="351"/>
                </a:lnTo>
                <a:lnTo>
                  <a:pt x="940" y="380"/>
                </a:lnTo>
                <a:lnTo>
                  <a:pt x="934" y="406"/>
                </a:lnTo>
                <a:lnTo>
                  <a:pt x="923" y="431"/>
                </a:lnTo>
                <a:lnTo>
                  <a:pt x="906" y="451"/>
                </a:lnTo>
                <a:lnTo>
                  <a:pt x="881" y="468"/>
                </a:lnTo>
                <a:lnTo>
                  <a:pt x="286" y="763"/>
                </a:lnTo>
                <a:lnTo>
                  <a:pt x="259" y="771"/>
                </a:lnTo>
                <a:lnTo>
                  <a:pt x="233" y="773"/>
                </a:lnTo>
                <a:lnTo>
                  <a:pt x="204" y="769"/>
                </a:lnTo>
                <a:lnTo>
                  <a:pt x="182" y="756"/>
                </a:lnTo>
                <a:lnTo>
                  <a:pt x="159" y="739"/>
                </a:lnTo>
                <a:lnTo>
                  <a:pt x="144" y="714"/>
                </a:lnTo>
                <a:lnTo>
                  <a:pt x="11" y="448"/>
                </a:lnTo>
                <a:lnTo>
                  <a:pt x="2" y="421"/>
                </a:lnTo>
                <a:lnTo>
                  <a:pt x="0" y="393"/>
                </a:lnTo>
                <a:lnTo>
                  <a:pt x="6" y="366"/>
                </a:lnTo>
                <a:lnTo>
                  <a:pt x="19" y="342"/>
                </a:lnTo>
                <a:lnTo>
                  <a:pt x="36" y="321"/>
                </a:lnTo>
                <a:lnTo>
                  <a:pt x="59" y="306"/>
                </a:lnTo>
                <a:lnTo>
                  <a:pt x="654" y="11"/>
                </a:lnTo>
                <a:lnTo>
                  <a:pt x="681" y="2"/>
                </a:lnTo>
                <a:lnTo>
                  <a:pt x="709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Freeform 16">
            <a:extLst>
              <a:ext uri="{FF2B5EF4-FFF2-40B4-BE49-F238E27FC236}">
                <a16:creationId xmlns:a16="http://schemas.microsoft.com/office/drawing/2014/main" id="{D6AE06AA-2B8C-2EA2-B804-2EC887FDE077}"/>
              </a:ext>
            </a:extLst>
          </p:cNvPr>
          <p:cNvSpPr>
            <a:spLocks/>
          </p:cNvSpPr>
          <p:nvPr/>
        </p:nvSpPr>
        <p:spPr bwMode="auto">
          <a:xfrm>
            <a:off x="5746139" y="4433814"/>
            <a:ext cx="796771" cy="651827"/>
          </a:xfrm>
          <a:custGeom>
            <a:avLst/>
            <a:gdLst>
              <a:gd name="T0" fmla="*/ 227 w 940"/>
              <a:gd name="T1" fmla="*/ 0 h 769"/>
              <a:gd name="T2" fmla="*/ 256 w 940"/>
              <a:gd name="T3" fmla="*/ 2 h 769"/>
              <a:gd name="T4" fmla="*/ 282 w 940"/>
              <a:gd name="T5" fmla="*/ 9 h 769"/>
              <a:gd name="T6" fmla="*/ 880 w 940"/>
              <a:gd name="T7" fmla="*/ 300 h 769"/>
              <a:gd name="T8" fmla="*/ 904 w 940"/>
              <a:gd name="T9" fmla="*/ 315 h 769"/>
              <a:gd name="T10" fmla="*/ 921 w 940"/>
              <a:gd name="T11" fmla="*/ 336 h 769"/>
              <a:gd name="T12" fmla="*/ 934 w 940"/>
              <a:gd name="T13" fmla="*/ 361 h 769"/>
              <a:gd name="T14" fmla="*/ 940 w 940"/>
              <a:gd name="T15" fmla="*/ 387 h 769"/>
              <a:gd name="T16" fmla="*/ 938 w 940"/>
              <a:gd name="T17" fmla="*/ 415 h 769"/>
              <a:gd name="T18" fmla="*/ 929 w 940"/>
              <a:gd name="T19" fmla="*/ 442 h 769"/>
              <a:gd name="T20" fmla="*/ 798 w 940"/>
              <a:gd name="T21" fmla="*/ 708 h 769"/>
              <a:gd name="T22" fmla="*/ 783 w 940"/>
              <a:gd name="T23" fmla="*/ 733 h 769"/>
              <a:gd name="T24" fmla="*/ 762 w 940"/>
              <a:gd name="T25" fmla="*/ 752 h 769"/>
              <a:gd name="T26" fmla="*/ 738 w 940"/>
              <a:gd name="T27" fmla="*/ 763 h 769"/>
              <a:gd name="T28" fmla="*/ 711 w 940"/>
              <a:gd name="T29" fmla="*/ 769 h 769"/>
              <a:gd name="T30" fmla="*/ 685 w 940"/>
              <a:gd name="T31" fmla="*/ 767 h 769"/>
              <a:gd name="T32" fmla="*/ 657 w 940"/>
              <a:gd name="T33" fmla="*/ 757 h 769"/>
              <a:gd name="T34" fmla="*/ 59 w 940"/>
              <a:gd name="T35" fmla="*/ 468 h 769"/>
              <a:gd name="T36" fmla="*/ 36 w 940"/>
              <a:gd name="T37" fmla="*/ 453 h 769"/>
              <a:gd name="T38" fmla="*/ 17 w 940"/>
              <a:gd name="T39" fmla="*/ 432 h 769"/>
              <a:gd name="T40" fmla="*/ 6 w 940"/>
              <a:gd name="T41" fmla="*/ 408 h 769"/>
              <a:gd name="T42" fmla="*/ 0 w 940"/>
              <a:gd name="T43" fmla="*/ 381 h 769"/>
              <a:gd name="T44" fmla="*/ 2 w 940"/>
              <a:gd name="T45" fmla="*/ 353 h 769"/>
              <a:gd name="T46" fmla="*/ 10 w 940"/>
              <a:gd name="T47" fmla="*/ 327 h 769"/>
              <a:gd name="T48" fmla="*/ 140 w 940"/>
              <a:gd name="T49" fmla="*/ 58 h 769"/>
              <a:gd name="T50" fmla="*/ 155 w 940"/>
              <a:gd name="T51" fmla="*/ 36 h 769"/>
              <a:gd name="T52" fmla="*/ 176 w 940"/>
              <a:gd name="T53" fmla="*/ 17 h 769"/>
              <a:gd name="T54" fmla="*/ 201 w 940"/>
              <a:gd name="T55" fmla="*/ 5 h 769"/>
              <a:gd name="T56" fmla="*/ 227 w 940"/>
              <a:gd name="T57" fmla="*/ 0 h 7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940" h="769">
                <a:moveTo>
                  <a:pt x="227" y="0"/>
                </a:moveTo>
                <a:lnTo>
                  <a:pt x="256" y="2"/>
                </a:lnTo>
                <a:lnTo>
                  <a:pt x="282" y="9"/>
                </a:lnTo>
                <a:lnTo>
                  <a:pt x="880" y="300"/>
                </a:lnTo>
                <a:lnTo>
                  <a:pt x="904" y="315"/>
                </a:lnTo>
                <a:lnTo>
                  <a:pt x="921" y="336"/>
                </a:lnTo>
                <a:lnTo>
                  <a:pt x="934" y="361"/>
                </a:lnTo>
                <a:lnTo>
                  <a:pt x="940" y="387"/>
                </a:lnTo>
                <a:lnTo>
                  <a:pt x="938" y="415"/>
                </a:lnTo>
                <a:lnTo>
                  <a:pt x="929" y="442"/>
                </a:lnTo>
                <a:lnTo>
                  <a:pt x="798" y="708"/>
                </a:lnTo>
                <a:lnTo>
                  <a:pt x="783" y="733"/>
                </a:lnTo>
                <a:lnTo>
                  <a:pt x="762" y="752"/>
                </a:lnTo>
                <a:lnTo>
                  <a:pt x="738" y="763"/>
                </a:lnTo>
                <a:lnTo>
                  <a:pt x="711" y="769"/>
                </a:lnTo>
                <a:lnTo>
                  <a:pt x="685" y="767"/>
                </a:lnTo>
                <a:lnTo>
                  <a:pt x="657" y="757"/>
                </a:lnTo>
                <a:lnTo>
                  <a:pt x="59" y="468"/>
                </a:lnTo>
                <a:lnTo>
                  <a:pt x="36" y="453"/>
                </a:lnTo>
                <a:lnTo>
                  <a:pt x="17" y="432"/>
                </a:lnTo>
                <a:lnTo>
                  <a:pt x="6" y="408"/>
                </a:lnTo>
                <a:lnTo>
                  <a:pt x="0" y="381"/>
                </a:lnTo>
                <a:lnTo>
                  <a:pt x="2" y="353"/>
                </a:lnTo>
                <a:lnTo>
                  <a:pt x="10" y="327"/>
                </a:lnTo>
                <a:lnTo>
                  <a:pt x="140" y="58"/>
                </a:lnTo>
                <a:lnTo>
                  <a:pt x="155" y="36"/>
                </a:lnTo>
                <a:lnTo>
                  <a:pt x="176" y="17"/>
                </a:lnTo>
                <a:lnTo>
                  <a:pt x="201" y="5"/>
                </a:lnTo>
                <a:lnTo>
                  <a:pt x="22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Freeform 17">
            <a:extLst>
              <a:ext uri="{FF2B5EF4-FFF2-40B4-BE49-F238E27FC236}">
                <a16:creationId xmlns:a16="http://schemas.microsoft.com/office/drawing/2014/main" id="{028A0E70-2D63-C288-6437-1B2DC6470D91}"/>
              </a:ext>
            </a:extLst>
          </p:cNvPr>
          <p:cNvSpPr>
            <a:spLocks/>
          </p:cNvSpPr>
          <p:nvPr/>
        </p:nvSpPr>
        <p:spPr bwMode="auto">
          <a:xfrm>
            <a:off x="5355382" y="3756558"/>
            <a:ext cx="543330" cy="782361"/>
          </a:xfrm>
          <a:custGeom>
            <a:avLst/>
            <a:gdLst>
              <a:gd name="T0" fmla="*/ 403 w 641"/>
              <a:gd name="T1" fmla="*/ 0 h 923"/>
              <a:gd name="T2" fmla="*/ 431 w 641"/>
              <a:gd name="T3" fmla="*/ 5 h 923"/>
              <a:gd name="T4" fmla="*/ 456 w 641"/>
              <a:gd name="T5" fmla="*/ 17 h 923"/>
              <a:gd name="T6" fmla="*/ 477 w 641"/>
              <a:gd name="T7" fmla="*/ 34 h 923"/>
              <a:gd name="T8" fmla="*/ 492 w 641"/>
              <a:gd name="T9" fmla="*/ 56 h 923"/>
              <a:gd name="T10" fmla="*/ 501 w 641"/>
              <a:gd name="T11" fmla="*/ 83 h 923"/>
              <a:gd name="T12" fmla="*/ 639 w 641"/>
              <a:gd name="T13" fmla="*/ 733 h 923"/>
              <a:gd name="T14" fmla="*/ 641 w 641"/>
              <a:gd name="T15" fmla="*/ 761 h 923"/>
              <a:gd name="T16" fmla="*/ 635 w 641"/>
              <a:gd name="T17" fmla="*/ 787 h 923"/>
              <a:gd name="T18" fmla="*/ 624 w 641"/>
              <a:gd name="T19" fmla="*/ 812 h 923"/>
              <a:gd name="T20" fmla="*/ 607 w 641"/>
              <a:gd name="T21" fmla="*/ 833 h 923"/>
              <a:gd name="T22" fmla="*/ 584 w 641"/>
              <a:gd name="T23" fmla="*/ 850 h 923"/>
              <a:gd name="T24" fmla="*/ 558 w 641"/>
              <a:gd name="T25" fmla="*/ 859 h 923"/>
              <a:gd name="T26" fmla="*/ 267 w 641"/>
              <a:gd name="T27" fmla="*/ 922 h 923"/>
              <a:gd name="T28" fmla="*/ 238 w 641"/>
              <a:gd name="T29" fmla="*/ 923 h 923"/>
              <a:gd name="T30" fmla="*/ 210 w 641"/>
              <a:gd name="T31" fmla="*/ 918 h 923"/>
              <a:gd name="T32" fmla="*/ 185 w 641"/>
              <a:gd name="T33" fmla="*/ 906 h 923"/>
              <a:gd name="T34" fmla="*/ 165 w 641"/>
              <a:gd name="T35" fmla="*/ 888 h 923"/>
              <a:gd name="T36" fmla="*/ 149 w 641"/>
              <a:gd name="T37" fmla="*/ 865 h 923"/>
              <a:gd name="T38" fmla="*/ 140 w 641"/>
              <a:gd name="T39" fmla="*/ 838 h 923"/>
              <a:gd name="T40" fmla="*/ 2 w 641"/>
              <a:gd name="T41" fmla="*/ 189 h 923"/>
              <a:gd name="T42" fmla="*/ 0 w 641"/>
              <a:gd name="T43" fmla="*/ 160 h 923"/>
              <a:gd name="T44" fmla="*/ 6 w 641"/>
              <a:gd name="T45" fmla="*/ 134 h 923"/>
              <a:gd name="T46" fmla="*/ 17 w 641"/>
              <a:gd name="T47" fmla="*/ 109 h 923"/>
              <a:gd name="T48" fmla="*/ 34 w 641"/>
              <a:gd name="T49" fmla="*/ 88 h 923"/>
              <a:gd name="T50" fmla="*/ 57 w 641"/>
              <a:gd name="T51" fmla="*/ 73 h 923"/>
              <a:gd name="T52" fmla="*/ 85 w 641"/>
              <a:gd name="T53" fmla="*/ 64 h 923"/>
              <a:gd name="T54" fmla="*/ 374 w 641"/>
              <a:gd name="T55" fmla="*/ 2 h 923"/>
              <a:gd name="T56" fmla="*/ 403 w 641"/>
              <a:gd name="T57" fmla="*/ 0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641" h="923">
                <a:moveTo>
                  <a:pt x="403" y="0"/>
                </a:moveTo>
                <a:lnTo>
                  <a:pt x="431" y="5"/>
                </a:lnTo>
                <a:lnTo>
                  <a:pt x="456" y="17"/>
                </a:lnTo>
                <a:lnTo>
                  <a:pt x="477" y="34"/>
                </a:lnTo>
                <a:lnTo>
                  <a:pt x="492" y="56"/>
                </a:lnTo>
                <a:lnTo>
                  <a:pt x="501" y="83"/>
                </a:lnTo>
                <a:lnTo>
                  <a:pt x="639" y="733"/>
                </a:lnTo>
                <a:lnTo>
                  <a:pt x="641" y="761"/>
                </a:lnTo>
                <a:lnTo>
                  <a:pt x="635" y="787"/>
                </a:lnTo>
                <a:lnTo>
                  <a:pt x="624" y="812"/>
                </a:lnTo>
                <a:lnTo>
                  <a:pt x="607" y="833"/>
                </a:lnTo>
                <a:lnTo>
                  <a:pt x="584" y="850"/>
                </a:lnTo>
                <a:lnTo>
                  <a:pt x="558" y="859"/>
                </a:lnTo>
                <a:lnTo>
                  <a:pt x="267" y="922"/>
                </a:lnTo>
                <a:lnTo>
                  <a:pt x="238" y="923"/>
                </a:lnTo>
                <a:lnTo>
                  <a:pt x="210" y="918"/>
                </a:lnTo>
                <a:lnTo>
                  <a:pt x="185" y="906"/>
                </a:lnTo>
                <a:lnTo>
                  <a:pt x="165" y="888"/>
                </a:lnTo>
                <a:lnTo>
                  <a:pt x="149" y="865"/>
                </a:lnTo>
                <a:lnTo>
                  <a:pt x="140" y="838"/>
                </a:lnTo>
                <a:lnTo>
                  <a:pt x="2" y="189"/>
                </a:lnTo>
                <a:lnTo>
                  <a:pt x="0" y="160"/>
                </a:lnTo>
                <a:lnTo>
                  <a:pt x="6" y="134"/>
                </a:lnTo>
                <a:lnTo>
                  <a:pt x="17" y="109"/>
                </a:lnTo>
                <a:lnTo>
                  <a:pt x="34" y="88"/>
                </a:lnTo>
                <a:lnTo>
                  <a:pt x="57" y="73"/>
                </a:lnTo>
                <a:lnTo>
                  <a:pt x="85" y="64"/>
                </a:lnTo>
                <a:lnTo>
                  <a:pt x="374" y="2"/>
                </a:lnTo>
                <a:lnTo>
                  <a:pt x="403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Freeform 18">
            <a:extLst>
              <a:ext uri="{FF2B5EF4-FFF2-40B4-BE49-F238E27FC236}">
                <a16:creationId xmlns:a16="http://schemas.microsoft.com/office/drawing/2014/main" id="{29D9905F-B27A-20E1-8F10-3DEDACA98596}"/>
              </a:ext>
            </a:extLst>
          </p:cNvPr>
          <p:cNvSpPr>
            <a:spLocks/>
          </p:cNvSpPr>
          <p:nvPr/>
        </p:nvSpPr>
        <p:spPr bwMode="auto">
          <a:xfrm>
            <a:off x="5430821" y="2964872"/>
            <a:ext cx="734046" cy="773885"/>
          </a:xfrm>
          <a:custGeom>
            <a:avLst/>
            <a:gdLst>
              <a:gd name="T0" fmla="*/ 520 w 866"/>
              <a:gd name="T1" fmla="*/ 0 h 913"/>
              <a:gd name="T2" fmla="*/ 548 w 866"/>
              <a:gd name="T3" fmla="*/ 0 h 913"/>
              <a:gd name="T4" fmla="*/ 575 w 866"/>
              <a:gd name="T5" fmla="*/ 10 h 913"/>
              <a:gd name="T6" fmla="*/ 599 w 866"/>
              <a:gd name="T7" fmla="*/ 25 h 913"/>
              <a:gd name="T8" fmla="*/ 828 w 866"/>
              <a:gd name="T9" fmla="*/ 214 h 913"/>
              <a:gd name="T10" fmla="*/ 847 w 866"/>
              <a:gd name="T11" fmla="*/ 235 h 913"/>
              <a:gd name="T12" fmla="*/ 860 w 866"/>
              <a:gd name="T13" fmla="*/ 259 h 913"/>
              <a:gd name="T14" fmla="*/ 866 w 866"/>
              <a:gd name="T15" fmla="*/ 286 h 913"/>
              <a:gd name="T16" fmla="*/ 864 w 866"/>
              <a:gd name="T17" fmla="*/ 314 h 913"/>
              <a:gd name="T18" fmla="*/ 856 w 866"/>
              <a:gd name="T19" fmla="*/ 340 h 913"/>
              <a:gd name="T20" fmla="*/ 841 w 866"/>
              <a:gd name="T21" fmla="*/ 363 h 913"/>
              <a:gd name="T22" fmla="*/ 416 w 866"/>
              <a:gd name="T23" fmla="*/ 875 h 913"/>
              <a:gd name="T24" fmla="*/ 395 w 866"/>
              <a:gd name="T25" fmla="*/ 894 h 913"/>
              <a:gd name="T26" fmla="*/ 371 w 866"/>
              <a:gd name="T27" fmla="*/ 907 h 913"/>
              <a:gd name="T28" fmla="*/ 344 w 866"/>
              <a:gd name="T29" fmla="*/ 913 h 913"/>
              <a:gd name="T30" fmla="*/ 318 w 866"/>
              <a:gd name="T31" fmla="*/ 911 h 913"/>
              <a:gd name="T32" fmla="*/ 291 w 866"/>
              <a:gd name="T33" fmla="*/ 903 h 913"/>
              <a:gd name="T34" fmla="*/ 267 w 866"/>
              <a:gd name="T35" fmla="*/ 888 h 913"/>
              <a:gd name="T36" fmla="*/ 38 w 866"/>
              <a:gd name="T37" fmla="*/ 697 h 913"/>
              <a:gd name="T38" fmla="*/ 19 w 866"/>
              <a:gd name="T39" fmla="*/ 677 h 913"/>
              <a:gd name="T40" fmla="*/ 6 w 866"/>
              <a:gd name="T41" fmla="*/ 652 h 913"/>
              <a:gd name="T42" fmla="*/ 0 w 866"/>
              <a:gd name="T43" fmla="*/ 626 h 913"/>
              <a:gd name="T44" fmla="*/ 2 w 866"/>
              <a:gd name="T45" fmla="*/ 599 h 913"/>
              <a:gd name="T46" fmla="*/ 9 w 866"/>
              <a:gd name="T47" fmla="*/ 573 h 913"/>
              <a:gd name="T48" fmla="*/ 24 w 866"/>
              <a:gd name="T49" fmla="*/ 548 h 913"/>
              <a:gd name="T50" fmla="*/ 448 w 866"/>
              <a:gd name="T51" fmla="*/ 38 h 913"/>
              <a:gd name="T52" fmla="*/ 469 w 866"/>
              <a:gd name="T53" fmla="*/ 19 h 913"/>
              <a:gd name="T54" fmla="*/ 493 w 866"/>
              <a:gd name="T55" fmla="*/ 6 h 913"/>
              <a:gd name="T56" fmla="*/ 520 w 866"/>
              <a:gd name="T57" fmla="*/ 0 h 9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866" h="913">
                <a:moveTo>
                  <a:pt x="520" y="0"/>
                </a:moveTo>
                <a:lnTo>
                  <a:pt x="548" y="0"/>
                </a:lnTo>
                <a:lnTo>
                  <a:pt x="575" y="10"/>
                </a:lnTo>
                <a:lnTo>
                  <a:pt x="599" y="25"/>
                </a:lnTo>
                <a:lnTo>
                  <a:pt x="828" y="214"/>
                </a:lnTo>
                <a:lnTo>
                  <a:pt x="847" y="235"/>
                </a:lnTo>
                <a:lnTo>
                  <a:pt x="860" y="259"/>
                </a:lnTo>
                <a:lnTo>
                  <a:pt x="866" y="286"/>
                </a:lnTo>
                <a:lnTo>
                  <a:pt x="864" y="314"/>
                </a:lnTo>
                <a:lnTo>
                  <a:pt x="856" y="340"/>
                </a:lnTo>
                <a:lnTo>
                  <a:pt x="841" y="363"/>
                </a:lnTo>
                <a:lnTo>
                  <a:pt x="416" y="875"/>
                </a:lnTo>
                <a:lnTo>
                  <a:pt x="395" y="894"/>
                </a:lnTo>
                <a:lnTo>
                  <a:pt x="371" y="907"/>
                </a:lnTo>
                <a:lnTo>
                  <a:pt x="344" y="913"/>
                </a:lnTo>
                <a:lnTo>
                  <a:pt x="318" y="911"/>
                </a:lnTo>
                <a:lnTo>
                  <a:pt x="291" y="903"/>
                </a:lnTo>
                <a:lnTo>
                  <a:pt x="267" y="888"/>
                </a:lnTo>
                <a:lnTo>
                  <a:pt x="38" y="697"/>
                </a:lnTo>
                <a:lnTo>
                  <a:pt x="19" y="677"/>
                </a:lnTo>
                <a:lnTo>
                  <a:pt x="6" y="652"/>
                </a:lnTo>
                <a:lnTo>
                  <a:pt x="0" y="626"/>
                </a:lnTo>
                <a:lnTo>
                  <a:pt x="2" y="599"/>
                </a:lnTo>
                <a:lnTo>
                  <a:pt x="9" y="573"/>
                </a:lnTo>
                <a:lnTo>
                  <a:pt x="24" y="548"/>
                </a:lnTo>
                <a:lnTo>
                  <a:pt x="448" y="38"/>
                </a:lnTo>
                <a:lnTo>
                  <a:pt x="469" y="19"/>
                </a:lnTo>
                <a:lnTo>
                  <a:pt x="493" y="6"/>
                </a:lnTo>
                <a:lnTo>
                  <a:pt x="520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Freeform 19">
            <a:extLst>
              <a:ext uri="{FF2B5EF4-FFF2-40B4-BE49-F238E27FC236}">
                <a16:creationId xmlns:a16="http://schemas.microsoft.com/office/drawing/2014/main" id="{60CDA5EF-CCE3-96E9-B5AF-BE246585BE4D}"/>
              </a:ext>
            </a:extLst>
          </p:cNvPr>
          <p:cNvSpPr>
            <a:spLocks/>
          </p:cNvSpPr>
          <p:nvPr/>
        </p:nvSpPr>
        <p:spPr bwMode="auto">
          <a:xfrm>
            <a:off x="6158086" y="2750422"/>
            <a:ext cx="744218" cy="432291"/>
          </a:xfrm>
          <a:custGeom>
            <a:avLst/>
            <a:gdLst>
              <a:gd name="T0" fmla="*/ 106 w 878"/>
              <a:gd name="T1" fmla="*/ 0 h 510"/>
              <a:gd name="T2" fmla="*/ 772 w 878"/>
              <a:gd name="T3" fmla="*/ 0 h 510"/>
              <a:gd name="T4" fmla="*/ 804 w 878"/>
              <a:gd name="T5" fmla="*/ 6 h 510"/>
              <a:gd name="T6" fmla="*/ 834 w 878"/>
              <a:gd name="T7" fmla="*/ 21 h 510"/>
              <a:gd name="T8" fmla="*/ 857 w 878"/>
              <a:gd name="T9" fmla="*/ 44 h 510"/>
              <a:gd name="T10" fmla="*/ 872 w 878"/>
              <a:gd name="T11" fmla="*/ 74 h 510"/>
              <a:gd name="T12" fmla="*/ 878 w 878"/>
              <a:gd name="T13" fmla="*/ 106 h 510"/>
              <a:gd name="T14" fmla="*/ 878 w 878"/>
              <a:gd name="T15" fmla="*/ 404 h 510"/>
              <a:gd name="T16" fmla="*/ 872 w 878"/>
              <a:gd name="T17" fmla="*/ 437 h 510"/>
              <a:gd name="T18" fmla="*/ 857 w 878"/>
              <a:gd name="T19" fmla="*/ 467 h 510"/>
              <a:gd name="T20" fmla="*/ 834 w 878"/>
              <a:gd name="T21" fmla="*/ 489 h 510"/>
              <a:gd name="T22" fmla="*/ 804 w 878"/>
              <a:gd name="T23" fmla="*/ 505 h 510"/>
              <a:gd name="T24" fmla="*/ 772 w 878"/>
              <a:gd name="T25" fmla="*/ 510 h 510"/>
              <a:gd name="T26" fmla="*/ 106 w 878"/>
              <a:gd name="T27" fmla="*/ 510 h 510"/>
              <a:gd name="T28" fmla="*/ 74 w 878"/>
              <a:gd name="T29" fmla="*/ 505 h 510"/>
              <a:gd name="T30" fmla="*/ 44 w 878"/>
              <a:gd name="T31" fmla="*/ 489 h 510"/>
              <a:gd name="T32" fmla="*/ 21 w 878"/>
              <a:gd name="T33" fmla="*/ 467 h 510"/>
              <a:gd name="T34" fmla="*/ 6 w 878"/>
              <a:gd name="T35" fmla="*/ 437 h 510"/>
              <a:gd name="T36" fmla="*/ 0 w 878"/>
              <a:gd name="T37" fmla="*/ 404 h 510"/>
              <a:gd name="T38" fmla="*/ 0 w 878"/>
              <a:gd name="T39" fmla="*/ 106 h 510"/>
              <a:gd name="T40" fmla="*/ 6 w 878"/>
              <a:gd name="T41" fmla="*/ 74 h 510"/>
              <a:gd name="T42" fmla="*/ 21 w 878"/>
              <a:gd name="T43" fmla="*/ 44 h 510"/>
              <a:gd name="T44" fmla="*/ 44 w 878"/>
              <a:gd name="T45" fmla="*/ 21 h 510"/>
              <a:gd name="T46" fmla="*/ 74 w 878"/>
              <a:gd name="T47" fmla="*/ 6 h 510"/>
              <a:gd name="T48" fmla="*/ 106 w 878"/>
              <a:gd name="T49" fmla="*/ 0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878" h="510">
                <a:moveTo>
                  <a:pt x="106" y="0"/>
                </a:moveTo>
                <a:lnTo>
                  <a:pt x="772" y="0"/>
                </a:lnTo>
                <a:lnTo>
                  <a:pt x="804" y="6"/>
                </a:lnTo>
                <a:lnTo>
                  <a:pt x="834" y="21"/>
                </a:lnTo>
                <a:lnTo>
                  <a:pt x="857" y="44"/>
                </a:lnTo>
                <a:lnTo>
                  <a:pt x="872" y="74"/>
                </a:lnTo>
                <a:lnTo>
                  <a:pt x="878" y="106"/>
                </a:lnTo>
                <a:lnTo>
                  <a:pt x="878" y="404"/>
                </a:lnTo>
                <a:lnTo>
                  <a:pt x="872" y="437"/>
                </a:lnTo>
                <a:lnTo>
                  <a:pt x="857" y="467"/>
                </a:lnTo>
                <a:lnTo>
                  <a:pt x="834" y="489"/>
                </a:lnTo>
                <a:lnTo>
                  <a:pt x="804" y="505"/>
                </a:lnTo>
                <a:lnTo>
                  <a:pt x="772" y="510"/>
                </a:lnTo>
                <a:lnTo>
                  <a:pt x="106" y="510"/>
                </a:lnTo>
                <a:lnTo>
                  <a:pt x="74" y="505"/>
                </a:lnTo>
                <a:lnTo>
                  <a:pt x="44" y="489"/>
                </a:lnTo>
                <a:lnTo>
                  <a:pt x="21" y="467"/>
                </a:lnTo>
                <a:lnTo>
                  <a:pt x="6" y="437"/>
                </a:lnTo>
                <a:lnTo>
                  <a:pt x="0" y="404"/>
                </a:lnTo>
                <a:lnTo>
                  <a:pt x="0" y="106"/>
                </a:lnTo>
                <a:lnTo>
                  <a:pt x="6" y="74"/>
                </a:lnTo>
                <a:lnTo>
                  <a:pt x="21" y="44"/>
                </a:lnTo>
                <a:lnTo>
                  <a:pt x="44" y="21"/>
                </a:lnTo>
                <a:lnTo>
                  <a:pt x="74" y="6"/>
                </a:lnTo>
                <a:lnTo>
                  <a:pt x="106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Freeform 20">
            <a:extLst>
              <a:ext uri="{FF2B5EF4-FFF2-40B4-BE49-F238E27FC236}">
                <a16:creationId xmlns:a16="http://schemas.microsoft.com/office/drawing/2014/main" id="{56BC1966-B433-25E5-F7D5-D8DD0EE61722}"/>
              </a:ext>
            </a:extLst>
          </p:cNvPr>
          <p:cNvSpPr>
            <a:spLocks/>
          </p:cNvSpPr>
          <p:nvPr/>
        </p:nvSpPr>
        <p:spPr bwMode="auto">
          <a:xfrm>
            <a:off x="6909933" y="3047093"/>
            <a:ext cx="703532" cy="673865"/>
          </a:xfrm>
          <a:custGeom>
            <a:avLst/>
            <a:gdLst>
              <a:gd name="T0" fmla="*/ 155 w 830"/>
              <a:gd name="T1" fmla="*/ 0 h 795"/>
              <a:gd name="T2" fmla="*/ 136 w 830"/>
              <a:gd name="T3" fmla="*/ 20 h 795"/>
              <a:gd name="T4" fmla="*/ 125 w 830"/>
              <a:gd name="T5" fmla="*/ 45 h 795"/>
              <a:gd name="T6" fmla="*/ 119 w 830"/>
              <a:gd name="T7" fmla="*/ 71 h 795"/>
              <a:gd name="T8" fmla="*/ 121 w 830"/>
              <a:gd name="T9" fmla="*/ 98 h 795"/>
              <a:gd name="T10" fmla="*/ 129 w 830"/>
              <a:gd name="T11" fmla="*/ 124 h 795"/>
              <a:gd name="T12" fmla="*/ 144 w 830"/>
              <a:gd name="T13" fmla="*/ 149 h 795"/>
              <a:gd name="T14" fmla="*/ 569 w 830"/>
              <a:gd name="T15" fmla="*/ 657 h 795"/>
              <a:gd name="T16" fmla="*/ 590 w 830"/>
              <a:gd name="T17" fmla="*/ 678 h 795"/>
              <a:gd name="T18" fmla="*/ 615 w 830"/>
              <a:gd name="T19" fmla="*/ 689 h 795"/>
              <a:gd name="T20" fmla="*/ 641 w 830"/>
              <a:gd name="T21" fmla="*/ 695 h 795"/>
              <a:gd name="T22" fmla="*/ 668 w 830"/>
              <a:gd name="T23" fmla="*/ 695 h 795"/>
              <a:gd name="T24" fmla="*/ 694 w 830"/>
              <a:gd name="T25" fmla="*/ 687 h 795"/>
              <a:gd name="T26" fmla="*/ 719 w 830"/>
              <a:gd name="T27" fmla="*/ 672 h 795"/>
              <a:gd name="T28" fmla="*/ 830 w 830"/>
              <a:gd name="T29" fmla="*/ 578 h 795"/>
              <a:gd name="T30" fmla="*/ 828 w 830"/>
              <a:gd name="T31" fmla="*/ 580 h 795"/>
              <a:gd name="T32" fmla="*/ 600 w 830"/>
              <a:gd name="T33" fmla="*/ 770 h 795"/>
              <a:gd name="T34" fmla="*/ 577 w 830"/>
              <a:gd name="T35" fmla="*/ 786 h 795"/>
              <a:gd name="T36" fmla="*/ 550 w 830"/>
              <a:gd name="T37" fmla="*/ 793 h 795"/>
              <a:gd name="T38" fmla="*/ 522 w 830"/>
              <a:gd name="T39" fmla="*/ 795 h 795"/>
              <a:gd name="T40" fmla="*/ 496 w 830"/>
              <a:gd name="T41" fmla="*/ 789 h 795"/>
              <a:gd name="T42" fmla="*/ 471 w 830"/>
              <a:gd name="T43" fmla="*/ 776 h 795"/>
              <a:gd name="T44" fmla="*/ 450 w 830"/>
              <a:gd name="T45" fmla="*/ 757 h 795"/>
              <a:gd name="T46" fmla="*/ 25 w 830"/>
              <a:gd name="T47" fmla="*/ 247 h 795"/>
              <a:gd name="T48" fmla="*/ 10 w 830"/>
              <a:gd name="T49" fmla="*/ 223 h 795"/>
              <a:gd name="T50" fmla="*/ 2 w 830"/>
              <a:gd name="T51" fmla="*/ 196 h 795"/>
              <a:gd name="T52" fmla="*/ 0 w 830"/>
              <a:gd name="T53" fmla="*/ 170 h 795"/>
              <a:gd name="T54" fmla="*/ 6 w 830"/>
              <a:gd name="T55" fmla="*/ 143 h 795"/>
              <a:gd name="T56" fmla="*/ 19 w 830"/>
              <a:gd name="T57" fmla="*/ 119 h 795"/>
              <a:gd name="T58" fmla="*/ 38 w 830"/>
              <a:gd name="T59" fmla="*/ 98 h 795"/>
              <a:gd name="T60" fmla="*/ 155 w 830"/>
              <a:gd name="T61" fmla="*/ 0 h 7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830" h="795">
                <a:moveTo>
                  <a:pt x="155" y="0"/>
                </a:moveTo>
                <a:lnTo>
                  <a:pt x="136" y="20"/>
                </a:lnTo>
                <a:lnTo>
                  <a:pt x="125" y="45"/>
                </a:lnTo>
                <a:lnTo>
                  <a:pt x="119" y="71"/>
                </a:lnTo>
                <a:lnTo>
                  <a:pt x="121" y="98"/>
                </a:lnTo>
                <a:lnTo>
                  <a:pt x="129" y="124"/>
                </a:lnTo>
                <a:lnTo>
                  <a:pt x="144" y="149"/>
                </a:lnTo>
                <a:lnTo>
                  <a:pt x="569" y="657"/>
                </a:lnTo>
                <a:lnTo>
                  <a:pt x="590" y="678"/>
                </a:lnTo>
                <a:lnTo>
                  <a:pt x="615" y="689"/>
                </a:lnTo>
                <a:lnTo>
                  <a:pt x="641" y="695"/>
                </a:lnTo>
                <a:lnTo>
                  <a:pt x="668" y="695"/>
                </a:lnTo>
                <a:lnTo>
                  <a:pt x="694" y="687"/>
                </a:lnTo>
                <a:lnTo>
                  <a:pt x="719" y="672"/>
                </a:lnTo>
                <a:lnTo>
                  <a:pt x="830" y="578"/>
                </a:lnTo>
                <a:lnTo>
                  <a:pt x="828" y="580"/>
                </a:lnTo>
                <a:lnTo>
                  <a:pt x="600" y="770"/>
                </a:lnTo>
                <a:lnTo>
                  <a:pt x="577" y="786"/>
                </a:lnTo>
                <a:lnTo>
                  <a:pt x="550" y="793"/>
                </a:lnTo>
                <a:lnTo>
                  <a:pt x="522" y="795"/>
                </a:lnTo>
                <a:lnTo>
                  <a:pt x="496" y="789"/>
                </a:lnTo>
                <a:lnTo>
                  <a:pt x="471" y="776"/>
                </a:lnTo>
                <a:lnTo>
                  <a:pt x="450" y="757"/>
                </a:lnTo>
                <a:lnTo>
                  <a:pt x="25" y="247"/>
                </a:lnTo>
                <a:lnTo>
                  <a:pt x="10" y="223"/>
                </a:lnTo>
                <a:lnTo>
                  <a:pt x="2" y="196"/>
                </a:lnTo>
                <a:lnTo>
                  <a:pt x="0" y="170"/>
                </a:lnTo>
                <a:lnTo>
                  <a:pt x="6" y="143"/>
                </a:lnTo>
                <a:lnTo>
                  <a:pt x="19" y="119"/>
                </a:lnTo>
                <a:lnTo>
                  <a:pt x="38" y="98"/>
                </a:lnTo>
                <a:lnTo>
                  <a:pt x="155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5" name="Freeform 21">
            <a:extLst>
              <a:ext uri="{FF2B5EF4-FFF2-40B4-BE49-F238E27FC236}">
                <a16:creationId xmlns:a16="http://schemas.microsoft.com/office/drawing/2014/main" id="{BF817B8D-BA5E-B462-9445-F747AF135A40}"/>
              </a:ext>
            </a:extLst>
          </p:cNvPr>
          <p:cNvSpPr>
            <a:spLocks/>
          </p:cNvSpPr>
          <p:nvPr/>
        </p:nvSpPr>
        <p:spPr bwMode="auto">
          <a:xfrm>
            <a:off x="7174394" y="3726043"/>
            <a:ext cx="344985" cy="781513"/>
          </a:xfrm>
          <a:custGeom>
            <a:avLst/>
            <a:gdLst>
              <a:gd name="T0" fmla="*/ 240 w 407"/>
              <a:gd name="T1" fmla="*/ 0 h 922"/>
              <a:gd name="T2" fmla="*/ 269 w 407"/>
              <a:gd name="T3" fmla="*/ 2 h 922"/>
              <a:gd name="T4" fmla="*/ 407 w 407"/>
              <a:gd name="T5" fmla="*/ 32 h 922"/>
              <a:gd name="T6" fmla="*/ 376 w 407"/>
              <a:gd name="T7" fmla="*/ 34 h 922"/>
              <a:gd name="T8" fmla="*/ 348 w 407"/>
              <a:gd name="T9" fmla="*/ 43 h 922"/>
              <a:gd name="T10" fmla="*/ 324 w 407"/>
              <a:gd name="T11" fmla="*/ 60 h 922"/>
              <a:gd name="T12" fmla="*/ 305 w 407"/>
              <a:gd name="T13" fmla="*/ 85 h 922"/>
              <a:gd name="T14" fmla="*/ 293 w 407"/>
              <a:gd name="T15" fmla="*/ 115 h 922"/>
              <a:gd name="T16" fmla="*/ 151 w 407"/>
              <a:gd name="T17" fmla="*/ 763 h 922"/>
              <a:gd name="T18" fmla="*/ 150 w 407"/>
              <a:gd name="T19" fmla="*/ 791 h 922"/>
              <a:gd name="T20" fmla="*/ 155 w 407"/>
              <a:gd name="T21" fmla="*/ 818 h 922"/>
              <a:gd name="T22" fmla="*/ 167 w 407"/>
              <a:gd name="T23" fmla="*/ 842 h 922"/>
              <a:gd name="T24" fmla="*/ 184 w 407"/>
              <a:gd name="T25" fmla="*/ 863 h 922"/>
              <a:gd name="T26" fmla="*/ 206 w 407"/>
              <a:gd name="T27" fmla="*/ 880 h 922"/>
              <a:gd name="T28" fmla="*/ 233 w 407"/>
              <a:gd name="T29" fmla="*/ 890 h 922"/>
              <a:gd name="T30" fmla="*/ 386 w 407"/>
              <a:gd name="T31" fmla="*/ 922 h 922"/>
              <a:gd name="T32" fmla="*/ 375 w 407"/>
              <a:gd name="T33" fmla="*/ 920 h 922"/>
              <a:gd name="T34" fmla="*/ 83 w 407"/>
              <a:gd name="T35" fmla="*/ 857 h 922"/>
              <a:gd name="T36" fmla="*/ 57 w 407"/>
              <a:gd name="T37" fmla="*/ 848 h 922"/>
              <a:gd name="T38" fmla="*/ 34 w 407"/>
              <a:gd name="T39" fmla="*/ 831 h 922"/>
              <a:gd name="T40" fmla="*/ 15 w 407"/>
              <a:gd name="T41" fmla="*/ 810 h 922"/>
              <a:gd name="T42" fmla="*/ 4 w 407"/>
              <a:gd name="T43" fmla="*/ 786 h 922"/>
              <a:gd name="T44" fmla="*/ 0 w 407"/>
              <a:gd name="T45" fmla="*/ 759 h 922"/>
              <a:gd name="T46" fmla="*/ 2 w 407"/>
              <a:gd name="T47" fmla="*/ 731 h 922"/>
              <a:gd name="T48" fmla="*/ 142 w 407"/>
              <a:gd name="T49" fmla="*/ 83 h 922"/>
              <a:gd name="T50" fmla="*/ 153 w 407"/>
              <a:gd name="T51" fmla="*/ 56 h 922"/>
              <a:gd name="T52" fmla="*/ 168 w 407"/>
              <a:gd name="T53" fmla="*/ 34 h 922"/>
              <a:gd name="T54" fmla="*/ 189 w 407"/>
              <a:gd name="T55" fmla="*/ 15 h 922"/>
              <a:gd name="T56" fmla="*/ 214 w 407"/>
              <a:gd name="T57" fmla="*/ 4 h 922"/>
              <a:gd name="T58" fmla="*/ 240 w 407"/>
              <a:gd name="T59" fmla="*/ 0 h 9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07" h="922">
                <a:moveTo>
                  <a:pt x="240" y="0"/>
                </a:moveTo>
                <a:lnTo>
                  <a:pt x="269" y="2"/>
                </a:lnTo>
                <a:lnTo>
                  <a:pt x="407" y="32"/>
                </a:lnTo>
                <a:lnTo>
                  <a:pt x="376" y="34"/>
                </a:lnTo>
                <a:lnTo>
                  <a:pt x="348" y="43"/>
                </a:lnTo>
                <a:lnTo>
                  <a:pt x="324" y="60"/>
                </a:lnTo>
                <a:lnTo>
                  <a:pt x="305" y="85"/>
                </a:lnTo>
                <a:lnTo>
                  <a:pt x="293" y="115"/>
                </a:lnTo>
                <a:lnTo>
                  <a:pt x="151" y="763"/>
                </a:lnTo>
                <a:lnTo>
                  <a:pt x="150" y="791"/>
                </a:lnTo>
                <a:lnTo>
                  <a:pt x="155" y="818"/>
                </a:lnTo>
                <a:lnTo>
                  <a:pt x="167" y="842"/>
                </a:lnTo>
                <a:lnTo>
                  <a:pt x="184" y="863"/>
                </a:lnTo>
                <a:lnTo>
                  <a:pt x="206" y="880"/>
                </a:lnTo>
                <a:lnTo>
                  <a:pt x="233" y="890"/>
                </a:lnTo>
                <a:lnTo>
                  <a:pt x="386" y="922"/>
                </a:lnTo>
                <a:lnTo>
                  <a:pt x="375" y="920"/>
                </a:lnTo>
                <a:lnTo>
                  <a:pt x="83" y="857"/>
                </a:lnTo>
                <a:lnTo>
                  <a:pt x="57" y="848"/>
                </a:lnTo>
                <a:lnTo>
                  <a:pt x="34" y="831"/>
                </a:lnTo>
                <a:lnTo>
                  <a:pt x="15" y="810"/>
                </a:lnTo>
                <a:lnTo>
                  <a:pt x="4" y="786"/>
                </a:lnTo>
                <a:lnTo>
                  <a:pt x="0" y="759"/>
                </a:lnTo>
                <a:lnTo>
                  <a:pt x="2" y="731"/>
                </a:lnTo>
                <a:lnTo>
                  <a:pt x="142" y="83"/>
                </a:lnTo>
                <a:lnTo>
                  <a:pt x="153" y="56"/>
                </a:lnTo>
                <a:lnTo>
                  <a:pt x="168" y="34"/>
                </a:lnTo>
                <a:lnTo>
                  <a:pt x="189" y="15"/>
                </a:lnTo>
                <a:lnTo>
                  <a:pt x="214" y="4"/>
                </a:lnTo>
                <a:lnTo>
                  <a:pt x="24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Freeform 22">
            <a:extLst>
              <a:ext uri="{FF2B5EF4-FFF2-40B4-BE49-F238E27FC236}">
                <a16:creationId xmlns:a16="http://schemas.microsoft.com/office/drawing/2014/main" id="{E070916F-B9E2-FA64-CC4A-20A0425C3A05}"/>
              </a:ext>
            </a:extLst>
          </p:cNvPr>
          <p:cNvSpPr>
            <a:spLocks/>
          </p:cNvSpPr>
          <p:nvPr/>
        </p:nvSpPr>
        <p:spPr bwMode="auto">
          <a:xfrm>
            <a:off x="6544605" y="4417708"/>
            <a:ext cx="789990" cy="493319"/>
          </a:xfrm>
          <a:custGeom>
            <a:avLst/>
            <a:gdLst>
              <a:gd name="T0" fmla="*/ 709 w 932"/>
              <a:gd name="T1" fmla="*/ 0 h 582"/>
              <a:gd name="T2" fmla="*/ 736 w 932"/>
              <a:gd name="T3" fmla="*/ 6 h 582"/>
              <a:gd name="T4" fmla="*/ 760 w 932"/>
              <a:gd name="T5" fmla="*/ 17 h 582"/>
              <a:gd name="T6" fmla="*/ 781 w 932"/>
              <a:gd name="T7" fmla="*/ 36 h 582"/>
              <a:gd name="T8" fmla="*/ 798 w 932"/>
              <a:gd name="T9" fmla="*/ 58 h 582"/>
              <a:gd name="T10" fmla="*/ 930 w 932"/>
              <a:gd name="T11" fmla="*/ 325 h 582"/>
              <a:gd name="T12" fmla="*/ 932 w 932"/>
              <a:gd name="T13" fmla="*/ 331 h 582"/>
              <a:gd name="T14" fmla="*/ 866 w 932"/>
              <a:gd name="T15" fmla="*/ 198 h 582"/>
              <a:gd name="T16" fmla="*/ 851 w 932"/>
              <a:gd name="T17" fmla="*/ 176 h 582"/>
              <a:gd name="T18" fmla="*/ 830 w 932"/>
              <a:gd name="T19" fmla="*/ 157 h 582"/>
              <a:gd name="T20" fmla="*/ 806 w 932"/>
              <a:gd name="T21" fmla="*/ 145 h 582"/>
              <a:gd name="T22" fmla="*/ 779 w 932"/>
              <a:gd name="T23" fmla="*/ 140 h 582"/>
              <a:gd name="T24" fmla="*/ 751 w 932"/>
              <a:gd name="T25" fmla="*/ 142 h 582"/>
              <a:gd name="T26" fmla="*/ 724 w 932"/>
              <a:gd name="T27" fmla="*/ 151 h 582"/>
              <a:gd name="T28" fmla="*/ 129 w 932"/>
              <a:gd name="T29" fmla="*/ 446 h 582"/>
              <a:gd name="T30" fmla="*/ 106 w 932"/>
              <a:gd name="T31" fmla="*/ 461 h 582"/>
              <a:gd name="T32" fmla="*/ 89 w 932"/>
              <a:gd name="T33" fmla="*/ 482 h 582"/>
              <a:gd name="T34" fmla="*/ 76 w 932"/>
              <a:gd name="T35" fmla="*/ 504 h 582"/>
              <a:gd name="T36" fmla="*/ 70 w 932"/>
              <a:gd name="T37" fmla="*/ 531 h 582"/>
              <a:gd name="T38" fmla="*/ 70 w 932"/>
              <a:gd name="T39" fmla="*/ 557 h 582"/>
              <a:gd name="T40" fmla="*/ 78 w 932"/>
              <a:gd name="T41" fmla="*/ 582 h 582"/>
              <a:gd name="T42" fmla="*/ 11 w 932"/>
              <a:gd name="T43" fmla="*/ 448 h 582"/>
              <a:gd name="T44" fmla="*/ 2 w 932"/>
              <a:gd name="T45" fmla="*/ 421 h 582"/>
              <a:gd name="T46" fmla="*/ 0 w 932"/>
              <a:gd name="T47" fmla="*/ 393 h 582"/>
              <a:gd name="T48" fmla="*/ 6 w 932"/>
              <a:gd name="T49" fmla="*/ 366 h 582"/>
              <a:gd name="T50" fmla="*/ 19 w 932"/>
              <a:gd name="T51" fmla="*/ 342 h 582"/>
              <a:gd name="T52" fmla="*/ 36 w 932"/>
              <a:gd name="T53" fmla="*/ 321 h 582"/>
              <a:gd name="T54" fmla="*/ 59 w 932"/>
              <a:gd name="T55" fmla="*/ 306 h 582"/>
              <a:gd name="T56" fmla="*/ 654 w 932"/>
              <a:gd name="T57" fmla="*/ 11 h 582"/>
              <a:gd name="T58" fmla="*/ 681 w 932"/>
              <a:gd name="T59" fmla="*/ 2 h 582"/>
              <a:gd name="T60" fmla="*/ 709 w 932"/>
              <a:gd name="T61" fmla="*/ 0 h 5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932" h="582">
                <a:moveTo>
                  <a:pt x="709" y="0"/>
                </a:moveTo>
                <a:lnTo>
                  <a:pt x="736" y="6"/>
                </a:lnTo>
                <a:lnTo>
                  <a:pt x="760" y="17"/>
                </a:lnTo>
                <a:lnTo>
                  <a:pt x="781" y="36"/>
                </a:lnTo>
                <a:lnTo>
                  <a:pt x="798" y="58"/>
                </a:lnTo>
                <a:lnTo>
                  <a:pt x="930" y="325"/>
                </a:lnTo>
                <a:lnTo>
                  <a:pt x="932" y="331"/>
                </a:lnTo>
                <a:lnTo>
                  <a:pt x="866" y="198"/>
                </a:lnTo>
                <a:lnTo>
                  <a:pt x="851" y="176"/>
                </a:lnTo>
                <a:lnTo>
                  <a:pt x="830" y="157"/>
                </a:lnTo>
                <a:lnTo>
                  <a:pt x="806" y="145"/>
                </a:lnTo>
                <a:lnTo>
                  <a:pt x="779" y="140"/>
                </a:lnTo>
                <a:lnTo>
                  <a:pt x="751" y="142"/>
                </a:lnTo>
                <a:lnTo>
                  <a:pt x="724" y="151"/>
                </a:lnTo>
                <a:lnTo>
                  <a:pt x="129" y="446"/>
                </a:lnTo>
                <a:lnTo>
                  <a:pt x="106" y="461"/>
                </a:lnTo>
                <a:lnTo>
                  <a:pt x="89" y="482"/>
                </a:lnTo>
                <a:lnTo>
                  <a:pt x="76" y="504"/>
                </a:lnTo>
                <a:lnTo>
                  <a:pt x="70" y="531"/>
                </a:lnTo>
                <a:lnTo>
                  <a:pt x="70" y="557"/>
                </a:lnTo>
                <a:lnTo>
                  <a:pt x="78" y="582"/>
                </a:lnTo>
                <a:lnTo>
                  <a:pt x="11" y="448"/>
                </a:lnTo>
                <a:lnTo>
                  <a:pt x="2" y="421"/>
                </a:lnTo>
                <a:lnTo>
                  <a:pt x="0" y="393"/>
                </a:lnTo>
                <a:lnTo>
                  <a:pt x="6" y="366"/>
                </a:lnTo>
                <a:lnTo>
                  <a:pt x="19" y="342"/>
                </a:lnTo>
                <a:lnTo>
                  <a:pt x="36" y="321"/>
                </a:lnTo>
                <a:lnTo>
                  <a:pt x="59" y="306"/>
                </a:lnTo>
                <a:lnTo>
                  <a:pt x="654" y="11"/>
                </a:lnTo>
                <a:lnTo>
                  <a:pt x="681" y="2"/>
                </a:lnTo>
                <a:lnTo>
                  <a:pt x="709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Freeform 23">
            <a:extLst>
              <a:ext uri="{FF2B5EF4-FFF2-40B4-BE49-F238E27FC236}">
                <a16:creationId xmlns:a16="http://schemas.microsoft.com/office/drawing/2014/main" id="{96D210F6-F794-5372-4C6F-38C1B82CC9AB}"/>
              </a:ext>
            </a:extLst>
          </p:cNvPr>
          <p:cNvSpPr>
            <a:spLocks/>
          </p:cNvSpPr>
          <p:nvPr/>
        </p:nvSpPr>
        <p:spPr bwMode="auto">
          <a:xfrm>
            <a:off x="5808863" y="4433814"/>
            <a:ext cx="734046" cy="603511"/>
          </a:xfrm>
          <a:custGeom>
            <a:avLst/>
            <a:gdLst>
              <a:gd name="T0" fmla="*/ 153 w 866"/>
              <a:gd name="T1" fmla="*/ 0 h 712"/>
              <a:gd name="T2" fmla="*/ 182 w 866"/>
              <a:gd name="T3" fmla="*/ 2 h 712"/>
              <a:gd name="T4" fmla="*/ 208 w 866"/>
              <a:gd name="T5" fmla="*/ 9 h 712"/>
              <a:gd name="T6" fmla="*/ 806 w 866"/>
              <a:gd name="T7" fmla="*/ 300 h 712"/>
              <a:gd name="T8" fmla="*/ 830 w 866"/>
              <a:gd name="T9" fmla="*/ 315 h 712"/>
              <a:gd name="T10" fmla="*/ 847 w 866"/>
              <a:gd name="T11" fmla="*/ 336 h 712"/>
              <a:gd name="T12" fmla="*/ 860 w 866"/>
              <a:gd name="T13" fmla="*/ 361 h 712"/>
              <a:gd name="T14" fmla="*/ 866 w 866"/>
              <a:gd name="T15" fmla="*/ 387 h 712"/>
              <a:gd name="T16" fmla="*/ 864 w 866"/>
              <a:gd name="T17" fmla="*/ 415 h 712"/>
              <a:gd name="T18" fmla="*/ 855 w 866"/>
              <a:gd name="T19" fmla="*/ 442 h 712"/>
              <a:gd name="T20" fmla="*/ 724 w 866"/>
              <a:gd name="T21" fmla="*/ 708 h 712"/>
              <a:gd name="T22" fmla="*/ 724 w 866"/>
              <a:gd name="T23" fmla="*/ 712 h 712"/>
              <a:gd name="T24" fmla="*/ 789 w 866"/>
              <a:gd name="T25" fmla="*/ 580 h 712"/>
              <a:gd name="T26" fmla="*/ 796 w 866"/>
              <a:gd name="T27" fmla="*/ 553 h 712"/>
              <a:gd name="T28" fmla="*/ 798 w 866"/>
              <a:gd name="T29" fmla="*/ 525 h 712"/>
              <a:gd name="T30" fmla="*/ 792 w 866"/>
              <a:gd name="T31" fmla="*/ 499 h 712"/>
              <a:gd name="T32" fmla="*/ 781 w 866"/>
              <a:gd name="T33" fmla="*/ 474 h 712"/>
              <a:gd name="T34" fmla="*/ 762 w 866"/>
              <a:gd name="T35" fmla="*/ 453 h 712"/>
              <a:gd name="T36" fmla="*/ 739 w 866"/>
              <a:gd name="T37" fmla="*/ 438 h 712"/>
              <a:gd name="T38" fmla="*/ 142 w 866"/>
              <a:gd name="T39" fmla="*/ 147 h 712"/>
              <a:gd name="T40" fmla="*/ 115 w 866"/>
              <a:gd name="T41" fmla="*/ 140 h 712"/>
              <a:gd name="T42" fmla="*/ 87 w 866"/>
              <a:gd name="T43" fmla="*/ 138 h 712"/>
              <a:gd name="T44" fmla="*/ 63 w 866"/>
              <a:gd name="T45" fmla="*/ 143 h 712"/>
              <a:gd name="T46" fmla="*/ 38 w 866"/>
              <a:gd name="T47" fmla="*/ 155 h 712"/>
              <a:gd name="T48" fmla="*/ 17 w 866"/>
              <a:gd name="T49" fmla="*/ 172 h 712"/>
              <a:gd name="T50" fmla="*/ 0 w 866"/>
              <a:gd name="T51" fmla="*/ 194 h 712"/>
              <a:gd name="T52" fmla="*/ 66 w 866"/>
              <a:gd name="T53" fmla="*/ 58 h 712"/>
              <a:gd name="T54" fmla="*/ 81 w 866"/>
              <a:gd name="T55" fmla="*/ 36 h 712"/>
              <a:gd name="T56" fmla="*/ 102 w 866"/>
              <a:gd name="T57" fmla="*/ 17 h 712"/>
              <a:gd name="T58" fmla="*/ 127 w 866"/>
              <a:gd name="T59" fmla="*/ 5 h 712"/>
              <a:gd name="T60" fmla="*/ 153 w 866"/>
              <a:gd name="T61" fmla="*/ 0 h 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866" h="712">
                <a:moveTo>
                  <a:pt x="153" y="0"/>
                </a:moveTo>
                <a:lnTo>
                  <a:pt x="182" y="2"/>
                </a:lnTo>
                <a:lnTo>
                  <a:pt x="208" y="9"/>
                </a:lnTo>
                <a:lnTo>
                  <a:pt x="806" y="300"/>
                </a:lnTo>
                <a:lnTo>
                  <a:pt x="830" y="315"/>
                </a:lnTo>
                <a:lnTo>
                  <a:pt x="847" y="336"/>
                </a:lnTo>
                <a:lnTo>
                  <a:pt x="860" y="361"/>
                </a:lnTo>
                <a:lnTo>
                  <a:pt x="866" y="387"/>
                </a:lnTo>
                <a:lnTo>
                  <a:pt x="864" y="415"/>
                </a:lnTo>
                <a:lnTo>
                  <a:pt x="855" y="442"/>
                </a:lnTo>
                <a:lnTo>
                  <a:pt x="724" y="708"/>
                </a:lnTo>
                <a:lnTo>
                  <a:pt x="724" y="712"/>
                </a:lnTo>
                <a:lnTo>
                  <a:pt x="789" y="580"/>
                </a:lnTo>
                <a:lnTo>
                  <a:pt x="796" y="553"/>
                </a:lnTo>
                <a:lnTo>
                  <a:pt x="798" y="525"/>
                </a:lnTo>
                <a:lnTo>
                  <a:pt x="792" y="499"/>
                </a:lnTo>
                <a:lnTo>
                  <a:pt x="781" y="474"/>
                </a:lnTo>
                <a:lnTo>
                  <a:pt x="762" y="453"/>
                </a:lnTo>
                <a:lnTo>
                  <a:pt x="739" y="438"/>
                </a:lnTo>
                <a:lnTo>
                  <a:pt x="142" y="147"/>
                </a:lnTo>
                <a:lnTo>
                  <a:pt x="115" y="140"/>
                </a:lnTo>
                <a:lnTo>
                  <a:pt x="87" y="138"/>
                </a:lnTo>
                <a:lnTo>
                  <a:pt x="63" y="143"/>
                </a:lnTo>
                <a:lnTo>
                  <a:pt x="38" y="155"/>
                </a:lnTo>
                <a:lnTo>
                  <a:pt x="17" y="172"/>
                </a:lnTo>
                <a:lnTo>
                  <a:pt x="0" y="194"/>
                </a:lnTo>
                <a:lnTo>
                  <a:pt x="66" y="58"/>
                </a:lnTo>
                <a:lnTo>
                  <a:pt x="81" y="36"/>
                </a:lnTo>
                <a:lnTo>
                  <a:pt x="102" y="17"/>
                </a:lnTo>
                <a:lnTo>
                  <a:pt x="127" y="5"/>
                </a:lnTo>
                <a:lnTo>
                  <a:pt x="15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Freeform 24">
            <a:extLst>
              <a:ext uri="{FF2B5EF4-FFF2-40B4-BE49-F238E27FC236}">
                <a16:creationId xmlns:a16="http://schemas.microsoft.com/office/drawing/2014/main" id="{6DAD6ACE-3CD3-DCDE-E295-67BDD93A815B}"/>
              </a:ext>
            </a:extLst>
          </p:cNvPr>
          <p:cNvSpPr>
            <a:spLocks/>
          </p:cNvSpPr>
          <p:nvPr/>
        </p:nvSpPr>
        <p:spPr bwMode="auto">
          <a:xfrm>
            <a:off x="5560508" y="3756558"/>
            <a:ext cx="338204" cy="781513"/>
          </a:xfrm>
          <a:custGeom>
            <a:avLst/>
            <a:gdLst>
              <a:gd name="T0" fmla="*/ 161 w 399"/>
              <a:gd name="T1" fmla="*/ 0 h 922"/>
              <a:gd name="T2" fmla="*/ 189 w 399"/>
              <a:gd name="T3" fmla="*/ 5 h 922"/>
              <a:gd name="T4" fmla="*/ 214 w 399"/>
              <a:gd name="T5" fmla="*/ 17 h 922"/>
              <a:gd name="T6" fmla="*/ 235 w 399"/>
              <a:gd name="T7" fmla="*/ 34 h 922"/>
              <a:gd name="T8" fmla="*/ 250 w 399"/>
              <a:gd name="T9" fmla="*/ 56 h 922"/>
              <a:gd name="T10" fmla="*/ 259 w 399"/>
              <a:gd name="T11" fmla="*/ 83 h 922"/>
              <a:gd name="T12" fmla="*/ 397 w 399"/>
              <a:gd name="T13" fmla="*/ 733 h 922"/>
              <a:gd name="T14" fmla="*/ 399 w 399"/>
              <a:gd name="T15" fmla="*/ 761 h 922"/>
              <a:gd name="T16" fmla="*/ 393 w 399"/>
              <a:gd name="T17" fmla="*/ 787 h 922"/>
              <a:gd name="T18" fmla="*/ 382 w 399"/>
              <a:gd name="T19" fmla="*/ 812 h 922"/>
              <a:gd name="T20" fmla="*/ 365 w 399"/>
              <a:gd name="T21" fmla="*/ 833 h 922"/>
              <a:gd name="T22" fmla="*/ 342 w 399"/>
              <a:gd name="T23" fmla="*/ 850 h 922"/>
              <a:gd name="T24" fmla="*/ 316 w 399"/>
              <a:gd name="T25" fmla="*/ 859 h 922"/>
              <a:gd name="T26" fmla="*/ 25 w 399"/>
              <a:gd name="T27" fmla="*/ 922 h 922"/>
              <a:gd name="T28" fmla="*/ 13 w 399"/>
              <a:gd name="T29" fmla="*/ 922 h 922"/>
              <a:gd name="T30" fmla="*/ 170 w 399"/>
              <a:gd name="T31" fmla="*/ 889 h 922"/>
              <a:gd name="T32" fmla="*/ 197 w 399"/>
              <a:gd name="T33" fmla="*/ 880 h 922"/>
              <a:gd name="T34" fmla="*/ 219 w 399"/>
              <a:gd name="T35" fmla="*/ 863 h 922"/>
              <a:gd name="T36" fmla="*/ 236 w 399"/>
              <a:gd name="T37" fmla="*/ 842 h 922"/>
              <a:gd name="T38" fmla="*/ 250 w 399"/>
              <a:gd name="T39" fmla="*/ 818 h 922"/>
              <a:gd name="T40" fmla="*/ 253 w 399"/>
              <a:gd name="T41" fmla="*/ 791 h 922"/>
              <a:gd name="T42" fmla="*/ 252 w 399"/>
              <a:gd name="T43" fmla="*/ 763 h 922"/>
              <a:gd name="T44" fmla="*/ 114 w 399"/>
              <a:gd name="T45" fmla="*/ 113 h 922"/>
              <a:gd name="T46" fmla="*/ 102 w 399"/>
              <a:gd name="T47" fmla="*/ 85 h 922"/>
              <a:gd name="T48" fmla="*/ 85 w 399"/>
              <a:gd name="T49" fmla="*/ 60 h 922"/>
              <a:gd name="T50" fmla="*/ 59 w 399"/>
              <a:gd name="T51" fmla="*/ 41 h 922"/>
              <a:gd name="T52" fmla="*/ 30 w 399"/>
              <a:gd name="T53" fmla="*/ 32 h 922"/>
              <a:gd name="T54" fmla="*/ 0 w 399"/>
              <a:gd name="T55" fmla="*/ 30 h 922"/>
              <a:gd name="T56" fmla="*/ 132 w 399"/>
              <a:gd name="T57" fmla="*/ 2 h 922"/>
              <a:gd name="T58" fmla="*/ 161 w 399"/>
              <a:gd name="T59" fmla="*/ 0 h 9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99" h="922">
                <a:moveTo>
                  <a:pt x="161" y="0"/>
                </a:moveTo>
                <a:lnTo>
                  <a:pt x="189" y="5"/>
                </a:lnTo>
                <a:lnTo>
                  <a:pt x="214" y="17"/>
                </a:lnTo>
                <a:lnTo>
                  <a:pt x="235" y="34"/>
                </a:lnTo>
                <a:lnTo>
                  <a:pt x="250" y="56"/>
                </a:lnTo>
                <a:lnTo>
                  <a:pt x="259" y="83"/>
                </a:lnTo>
                <a:lnTo>
                  <a:pt x="397" y="733"/>
                </a:lnTo>
                <a:lnTo>
                  <a:pt x="399" y="761"/>
                </a:lnTo>
                <a:lnTo>
                  <a:pt x="393" y="787"/>
                </a:lnTo>
                <a:lnTo>
                  <a:pt x="382" y="812"/>
                </a:lnTo>
                <a:lnTo>
                  <a:pt x="365" y="833"/>
                </a:lnTo>
                <a:lnTo>
                  <a:pt x="342" y="850"/>
                </a:lnTo>
                <a:lnTo>
                  <a:pt x="316" y="859"/>
                </a:lnTo>
                <a:lnTo>
                  <a:pt x="25" y="922"/>
                </a:lnTo>
                <a:lnTo>
                  <a:pt x="13" y="922"/>
                </a:lnTo>
                <a:lnTo>
                  <a:pt x="170" y="889"/>
                </a:lnTo>
                <a:lnTo>
                  <a:pt x="197" y="880"/>
                </a:lnTo>
                <a:lnTo>
                  <a:pt x="219" y="863"/>
                </a:lnTo>
                <a:lnTo>
                  <a:pt x="236" y="842"/>
                </a:lnTo>
                <a:lnTo>
                  <a:pt x="250" y="818"/>
                </a:lnTo>
                <a:lnTo>
                  <a:pt x="253" y="791"/>
                </a:lnTo>
                <a:lnTo>
                  <a:pt x="252" y="763"/>
                </a:lnTo>
                <a:lnTo>
                  <a:pt x="114" y="113"/>
                </a:lnTo>
                <a:lnTo>
                  <a:pt x="102" y="85"/>
                </a:lnTo>
                <a:lnTo>
                  <a:pt x="85" y="60"/>
                </a:lnTo>
                <a:lnTo>
                  <a:pt x="59" y="41"/>
                </a:lnTo>
                <a:lnTo>
                  <a:pt x="30" y="32"/>
                </a:lnTo>
                <a:lnTo>
                  <a:pt x="0" y="30"/>
                </a:lnTo>
                <a:lnTo>
                  <a:pt x="132" y="2"/>
                </a:lnTo>
                <a:lnTo>
                  <a:pt x="161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" name="Freeform 25">
            <a:extLst>
              <a:ext uri="{FF2B5EF4-FFF2-40B4-BE49-F238E27FC236}">
                <a16:creationId xmlns:a16="http://schemas.microsoft.com/office/drawing/2014/main" id="{EA61B370-85E5-E121-C335-FD960CF02425}"/>
              </a:ext>
            </a:extLst>
          </p:cNvPr>
          <p:cNvSpPr>
            <a:spLocks/>
          </p:cNvSpPr>
          <p:nvPr/>
        </p:nvSpPr>
        <p:spPr bwMode="auto">
          <a:xfrm>
            <a:off x="5454554" y="3065740"/>
            <a:ext cx="710312" cy="673017"/>
          </a:xfrm>
          <a:custGeom>
            <a:avLst/>
            <a:gdLst>
              <a:gd name="T0" fmla="*/ 687 w 838"/>
              <a:gd name="T1" fmla="*/ 0 h 794"/>
              <a:gd name="T2" fmla="*/ 800 w 838"/>
              <a:gd name="T3" fmla="*/ 95 h 794"/>
              <a:gd name="T4" fmla="*/ 819 w 838"/>
              <a:gd name="T5" fmla="*/ 116 h 794"/>
              <a:gd name="T6" fmla="*/ 832 w 838"/>
              <a:gd name="T7" fmla="*/ 140 h 794"/>
              <a:gd name="T8" fmla="*/ 838 w 838"/>
              <a:gd name="T9" fmla="*/ 167 h 794"/>
              <a:gd name="T10" fmla="*/ 836 w 838"/>
              <a:gd name="T11" fmla="*/ 195 h 794"/>
              <a:gd name="T12" fmla="*/ 828 w 838"/>
              <a:gd name="T13" fmla="*/ 221 h 794"/>
              <a:gd name="T14" fmla="*/ 813 w 838"/>
              <a:gd name="T15" fmla="*/ 244 h 794"/>
              <a:gd name="T16" fmla="*/ 388 w 838"/>
              <a:gd name="T17" fmla="*/ 756 h 794"/>
              <a:gd name="T18" fmla="*/ 367 w 838"/>
              <a:gd name="T19" fmla="*/ 775 h 794"/>
              <a:gd name="T20" fmla="*/ 343 w 838"/>
              <a:gd name="T21" fmla="*/ 788 h 794"/>
              <a:gd name="T22" fmla="*/ 316 w 838"/>
              <a:gd name="T23" fmla="*/ 794 h 794"/>
              <a:gd name="T24" fmla="*/ 290 w 838"/>
              <a:gd name="T25" fmla="*/ 792 h 794"/>
              <a:gd name="T26" fmla="*/ 263 w 838"/>
              <a:gd name="T27" fmla="*/ 784 h 794"/>
              <a:gd name="T28" fmla="*/ 239 w 838"/>
              <a:gd name="T29" fmla="*/ 769 h 794"/>
              <a:gd name="T30" fmla="*/ 10 w 838"/>
              <a:gd name="T31" fmla="*/ 578 h 794"/>
              <a:gd name="T32" fmla="*/ 4 w 838"/>
              <a:gd name="T33" fmla="*/ 575 h 794"/>
              <a:gd name="T34" fmla="*/ 0 w 838"/>
              <a:gd name="T35" fmla="*/ 569 h 794"/>
              <a:gd name="T36" fmla="*/ 116 w 838"/>
              <a:gd name="T37" fmla="*/ 665 h 794"/>
              <a:gd name="T38" fmla="*/ 138 w 838"/>
              <a:gd name="T39" fmla="*/ 680 h 794"/>
              <a:gd name="T40" fmla="*/ 165 w 838"/>
              <a:gd name="T41" fmla="*/ 688 h 794"/>
              <a:gd name="T42" fmla="*/ 193 w 838"/>
              <a:gd name="T43" fmla="*/ 688 h 794"/>
              <a:gd name="T44" fmla="*/ 220 w 838"/>
              <a:gd name="T45" fmla="*/ 682 h 794"/>
              <a:gd name="T46" fmla="*/ 244 w 838"/>
              <a:gd name="T47" fmla="*/ 671 h 794"/>
              <a:gd name="T48" fmla="*/ 265 w 838"/>
              <a:gd name="T49" fmla="*/ 650 h 794"/>
              <a:gd name="T50" fmla="*/ 689 w 838"/>
              <a:gd name="T51" fmla="*/ 140 h 794"/>
              <a:gd name="T52" fmla="*/ 706 w 838"/>
              <a:gd name="T53" fmla="*/ 114 h 794"/>
              <a:gd name="T54" fmla="*/ 713 w 838"/>
              <a:gd name="T55" fmla="*/ 85 h 794"/>
              <a:gd name="T56" fmla="*/ 711 w 838"/>
              <a:gd name="T57" fmla="*/ 55 h 794"/>
              <a:gd name="T58" fmla="*/ 704 w 838"/>
              <a:gd name="T59" fmla="*/ 27 h 794"/>
              <a:gd name="T60" fmla="*/ 687 w 838"/>
              <a:gd name="T61" fmla="*/ 0 h 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838" h="794">
                <a:moveTo>
                  <a:pt x="687" y="0"/>
                </a:moveTo>
                <a:lnTo>
                  <a:pt x="800" y="95"/>
                </a:lnTo>
                <a:lnTo>
                  <a:pt x="819" y="116"/>
                </a:lnTo>
                <a:lnTo>
                  <a:pt x="832" y="140"/>
                </a:lnTo>
                <a:lnTo>
                  <a:pt x="838" y="167"/>
                </a:lnTo>
                <a:lnTo>
                  <a:pt x="836" y="195"/>
                </a:lnTo>
                <a:lnTo>
                  <a:pt x="828" y="221"/>
                </a:lnTo>
                <a:lnTo>
                  <a:pt x="813" y="244"/>
                </a:lnTo>
                <a:lnTo>
                  <a:pt x="388" y="756"/>
                </a:lnTo>
                <a:lnTo>
                  <a:pt x="367" y="775"/>
                </a:lnTo>
                <a:lnTo>
                  <a:pt x="343" y="788"/>
                </a:lnTo>
                <a:lnTo>
                  <a:pt x="316" y="794"/>
                </a:lnTo>
                <a:lnTo>
                  <a:pt x="290" y="792"/>
                </a:lnTo>
                <a:lnTo>
                  <a:pt x="263" y="784"/>
                </a:lnTo>
                <a:lnTo>
                  <a:pt x="239" y="769"/>
                </a:lnTo>
                <a:lnTo>
                  <a:pt x="10" y="578"/>
                </a:lnTo>
                <a:lnTo>
                  <a:pt x="4" y="575"/>
                </a:lnTo>
                <a:lnTo>
                  <a:pt x="0" y="569"/>
                </a:lnTo>
                <a:lnTo>
                  <a:pt x="116" y="665"/>
                </a:lnTo>
                <a:lnTo>
                  <a:pt x="138" y="680"/>
                </a:lnTo>
                <a:lnTo>
                  <a:pt x="165" y="688"/>
                </a:lnTo>
                <a:lnTo>
                  <a:pt x="193" y="688"/>
                </a:lnTo>
                <a:lnTo>
                  <a:pt x="220" y="682"/>
                </a:lnTo>
                <a:lnTo>
                  <a:pt x="244" y="671"/>
                </a:lnTo>
                <a:lnTo>
                  <a:pt x="265" y="650"/>
                </a:lnTo>
                <a:lnTo>
                  <a:pt x="689" y="140"/>
                </a:lnTo>
                <a:lnTo>
                  <a:pt x="706" y="114"/>
                </a:lnTo>
                <a:lnTo>
                  <a:pt x="713" y="85"/>
                </a:lnTo>
                <a:lnTo>
                  <a:pt x="711" y="55"/>
                </a:lnTo>
                <a:lnTo>
                  <a:pt x="704" y="27"/>
                </a:lnTo>
                <a:lnTo>
                  <a:pt x="687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Freeform 26">
            <a:extLst>
              <a:ext uri="{FF2B5EF4-FFF2-40B4-BE49-F238E27FC236}">
                <a16:creationId xmlns:a16="http://schemas.microsoft.com/office/drawing/2014/main" id="{5E8B046C-054B-4F82-C054-EA7276DA17D5}"/>
              </a:ext>
            </a:extLst>
          </p:cNvPr>
          <p:cNvSpPr>
            <a:spLocks/>
          </p:cNvSpPr>
          <p:nvPr/>
        </p:nvSpPr>
        <p:spPr bwMode="auto">
          <a:xfrm>
            <a:off x="6158086" y="2969958"/>
            <a:ext cx="744218" cy="212755"/>
          </a:xfrm>
          <a:custGeom>
            <a:avLst/>
            <a:gdLst>
              <a:gd name="T0" fmla="*/ 0 w 878"/>
              <a:gd name="T1" fmla="*/ 0 h 251"/>
              <a:gd name="T2" fmla="*/ 6 w 878"/>
              <a:gd name="T3" fmla="*/ 34 h 251"/>
              <a:gd name="T4" fmla="*/ 21 w 878"/>
              <a:gd name="T5" fmla="*/ 62 h 251"/>
              <a:gd name="T6" fmla="*/ 44 w 878"/>
              <a:gd name="T7" fmla="*/ 85 h 251"/>
              <a:gd name="T8" fmla="*/ 74 w 878"/>
              <a:gd name="T9" fmla="*/ 100 h 251"/>
              <a:gd name="T10" fmla="*/ 106 w 878"/>
              <a:gd name="T11" fmla="*/ 106 h 251"/>
              <a:gd name="T12" fmla="*/ 772 w 878"/>
              <a:gd name="T13" fmla="*/ 106 h 251"/>
              <a:gd name="T14" fmla="*/ 804 w 878"/>
              <a:gd name="T15" fmla="*/ 100 h 251"/>
              <a:gd name="T16" fmla="*/ 834 w 878"/>
              <a:gd name="T17" fmla="*/ 85 h 251"/>
              <a:gd name="T18" fmla="*/ 857 w 878"/>
              <a:gd name="T19" fmla="*/ 62 h 251"/>
              <a:gd name="T20" fmla="*/ 872 w 878"/>
              <a:gd name="T21" fmla="*/ 34 h 251"/>
              <a:gd name="T22" fmla="*/ 878 w 878"/>
              <a:gd name="T23" fmla="*/ 0 h 251"/>
              <a:gd name="T24" fmla="*/ 878 w 878"/>
              <a:gd name="T25" fmla="*/ 145 h 251"/>
              <a:gd name="T26" fmla="*/ 872 w 878"/>
              <a:gd name="T27" fmla="*/ 178 h 251"/>
              <a:gd name="T28" fmla="*/ 857 w 878"/>
              <a:gd name="T29" fmla="*/ 208 h 251"/>
              <a:gd name="T30" fmla="*/ 834 w 878"/>
              <a:gd name="T31" fmla="*/ 230 h 251"/>
              <a:gd name="T32" fmla="*/ 804 w 878"/>
              <a:gd name="T33" fmla="*/ 246 h 251"/>
              <a:gd name="T34" fmla="*/ 772 w 878"/>
              <a:gd name="T35" fmla="*/ 251 h 251"/>
              <a:gd name="T36" fmla="*/ 106 w 878"/>
              <a:gd name="T37" fmla="*/ 251 h 251"/>
              <a:gd name="T38" fmla="*/ 74 w 878"/>
              <a:gd name="T39" fmla="*/ 246 h 251"/>
              <a:gd name="T40" fmla="*/ 44 w 878"/>
              <a:gd name="T41" fmla="*/ 230 h 251"/>
              <a:gd name="T42" fmla="*/ 21 w 878"/>
              <a:gd name="T43" fmla="*/ 208 h 251"/>
              <a:gd name="T44" fmla="*/ 6 w 878"/>
              <a:gd name="T45" fmla="*/ 178 h 251"/>
              <a:gd name="T46" fmla="*/ 0 w 878"/>
              <a:gd name="T47" fmla="*/ 145 h 251"/>
              <a:gd name="T48" fmla="*/ 0 w 878"/>
              <a:gd name="T49" fmla="*/ 0 h 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878" h="251">
                <a:moveTo>
                  <a:pt x="0" y="0"/>
                </a:moveTo>
                <a:lnTo>
                  <a:pt x="6" y="34"/>
                </a:lnTo>
                <a:lnTo>
                  <a:pt x="21" y="62"/>
                </a:lnTo>
                <a:lnTo>
                  <a:pt x="44" y="85"/>
                </a:lnTo>
                <a:lnTo>
                  <a:pt x="74" y="100"/>
                </a:lnTo>
                <a:lnTo>
                  <a:pt x="106" y="106"/>
                </a:lnTo>
                <a:lnTo>
                  <a:pt x="772" y="106"/>
                </a:lnTo>
                <a:lnTo>
                  <a:pt x="804" y="100"/>
                </a:lnTo>
                <a:lnTo>
                  <a:pt x="834" y="85"/>
                </a:lnTo>
                <a:lnTo>
                  <a:pt x="857" y="62"/>
                </a:lnTo>
                <a:lnTo>
                  <a:pt x="872" y="34"/>
                </a:lnTo>
                <a:lnTo>
                  <a:pt x="878" y="0"/>
                </a:lnTo>
                <a:lnTo>
                  <a:pt x="878" y="145"/>
                </a:lnTo>
                <a:lnTo>
                  <a:pt x="872" y="178"/>
                </a:lnTo>
                <a:lnTo>
                  <a:pt x="857" y="208"/>
                </a:lnTo>
                <a:lnTo>
                  <a:pt x="834" y="230"/>
                </a:lnTo>
                <a:lnTo>
                  <a:pt x="804" y="246"/>
                </a:lnTo>
                <a:lnTo>
                  <a:pt x="772" y="251"/>
                </a:lnTo>
                <a:lnTo>
                  <a:pt x="106" y="251"/>
                </a:lnTo>
                <a:lnTo>
                  <a:pt x="74" y="246"/>
                </a:lnTo>
                <a:lnTo>
                  <a:pt x="44" y="230"/>
                </a:lnTo>
                <a:lnTo>
                  <a:pt x="21" y="208"/>
                </a:lnTo>
                <a:lnTo>
                  <a:pt x="6" y="178"/>
                </a:lnTo>
                <a:lnTo>
                  <a:pt x="0" y="1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Freeform 27">
            <a:extLst>
              <a:ext uri="{FF2B5EF4-FFF2-40B4-BE49-F238E27FC236}">
                <a16:creationId xmlns:a16="http://schemas.microsoft.com/office/drawing/2014/main" id="{5C595DB0-FA93-A4AC-D362-2CE35F955B83}"/>
              </a:ext>
            </a:extLst>
          </p:cNvPr>
          <p:cNvSpPr>
            <a:spLocks/>
          </p:cNvSpPr>
          <p:nvPr/>
        </p:nvSpPr>
        <p:spPr bwMode="auto">
          <a:xfrm>
            <a:off x="5736816" y="3158978"/>
            <a:ext cx="1597781" cy="1564722"/>
          </a:xfrm>
          <a:custGeom>
            <a:avLst/>
            <a:gdLst>
              <a:gd name="T0" fmla="*/ 1261 w 1885"/>
              <a:gd name="T1" fmla="*/ 0 h 1846"/>
              <a:gd name="T2" fmla="*/ 1299 w 1885"/>
              <a:gd name="T3" fmla="*/ 4 h 1846"/>
              <a:gd name="T4" fmla="*/ 1337 w 1885"/>
              <a:gd name="T5" fmla="*/ 15 h 1846"/>
              <a:gd name="T6" fmla="*/ 1375 w 1885"/>
              <a:gd name="T7" fmla="*/ 34 h 1846"/>
              <a:gd name="T8" fmla="*/ 1409 w 1885"/>
              <a:gd name="T9" fmla="*/ 57 h 1846"/>
              <a:gd name="T10" fmla="*/ 1435 w 1885"/>
              <a:gd name="T11" fmla="*/ 81 h 1846"/>
              <a:gd name="T12" fmla="*/ 1838 w 1885"/>
              <a:gd name="T13" fmla="*/ 584 h 1846"/>
              <a:gd name="T14" fmla="*/ 1857 w 1885"/>
              <a:gd name="T15" fmla="*/ 614 h 1846"/>
              <a:gd name="T16" fmla="*/ 1872 w 1885"/>
              <a:gd name="T17" fmla="*/ 652 h 1846"/>
              <a:gd name="T18" fmla="*/ 1881 w 1885"/>
              <a:gd name="T19" fmla="*/ 693 h 1846"/>
              <a:gd name="T20" fmla="*/ 1885 w 1885"/>
              <a:gd name="T21" fmla="*/ 733 h 1846"/>
              <a:gd name="T22" fmla="*/ 1881 w 1885"/>
              <a:gd name="T23" fmla="*/ 771 h 1846"/>
              <a:gd name="T24" fmla="*/ 1740 w 1885"/>
              <a:gd name="T25" fmla="*/ 1396 h 1846"/>
              <a:gd name="T26" fmla="*/ 1726 w 1885"/>
              <a:gd name="T27" fmla="*/ 1432 h 1846"/>
              <a:gd name="T28" fmla="*/ 1708 w 1885"/>
              <a:gd name="T29" fmla="*/ 1468 h 1846"/>
              <a:gd name="T30" fmla="*/ 1681 w 1885"/>
              <a:gd name="T31" fmla="*/ 1500 h 1846"/>
              <a:gd name="T32" fmla="*/ 1651 w 1885"/>
              <a:gd name="T33" fmla="*/ 1526 h 1846"/>
              <a:gd name="T34" fmla="*/ 1621 w 1885"/>
              <a:gd name="T35" fmla="*/ 1547 h 1846"/>
              <a:gd name="T36" fmla="*/ 1042 w 1885"/>
              <a:gd name="T37" fmla="*/ 1827 h 1846"/>
              <a:gd name="T38" fmla="*/ 1006 w 1885"/>
              <a:gd name="T39" fmla="*/ 1840 h 1846"/>
              <a:gd name="T40" fmla="*/ 966 w 1885"/>
              <a:gd name="T41" fmla="*/ 1846 h 1846"/>
              <a:gd name="T42" fmla="*/ 925 w 1885"/>
              <a:gd name="T43" fmla="*/ 1846 h 1846"/>
              <a:gd name="T44" fmla="*/ 885 w 1885"/>
              <a:gd name="T45" fmla="*/ 1840 h 1846"/>
              <a:gd name="T46" fmla="*/ 851 w 1885"/>
              <a:gd name="T47" fmla="*/ 1829 h 1846"/>
              <a:gd name="T48" fmla="*/ 270 w 1885"/>
              <a:gd name="T49" fmla="*/ 1551 h 1846"/>
              <a:gd name="T50" fmla="*/ 238 w 1885"/>
              <a:gd name="T51" fmla="*/ 1532 h 1846"/>
              <a:gd name="T52" fmla="*/ 208 w 1885"/>
              <a:gd name="T53" fmla="*/ 1504 h 1846"/>
              <a:gd name="T54" fmla="*/ 182 w 1885"/>
              <a:gd name="T55" fmla="*/ 1472 h 1846"/>
              <a:gd name="T56" fmla="*/ 163 w 1885"/>
              <a:gd name="T57" fmla="*/ 1438 h 1846"/>
              <a:gd name="T58" fmla="*/ 149 w 1885"/>
              <a:gd name="T59" fmla="*/ 1402 h 1846"/>
              <a:gd name="T60" fmla="*/ 4 w 1885"/>
              <a:gd name="T61" fmla="*/ 776 h 1846"/>
              <a:gd name="T62" fmla="*/ 0 w 1885"/>
              <a:gd name="T63" fmla="*/ 739 h 1846"/>
              <a:gd name="T64" fmla="*/ 4 w 1885"/>
              <a:gd name="T65" fmla="*/ 699 h 1846"/>
              <a:gd name="T66" fmla="*/ 13 w 1885"/>
              <a:gd name="T67" fmla="*/ 657 h 1846"/>
              <a:gd name="T68" fmla="*/ 27 w 1885"/>
              <a:gd name="T69" fmla="*/ 620 h 1846"/>
              <a:gd name="T70" fmla="*/ 47 w 1885"/>
              <a:gd name="T71" fmla="*/ 589 h 1846"/>
              <a:gd name="T72" fmla="*/ 446 w 1885"/>
              <a:gd name="T73" fmla="*/ 85 h 1846"/>
              <a:gd name="T74" fmla="*/ 473 w 1885"/>
              <a:gd name="T75" fmla="*/ 58 h 1846"/>
              <a:gd name="T76" fmla="*/ 505 w 1885"/>
              <a:gd name="T77" fmla="*/ 36 h 1846"/>
              <a:gd name="T78" fmla="*/ 543 w 1885"/>
              <a:gd name="T79" fmla="*/ 19 h 1846"/>
              <a:gd name="T80" fmla="*/ 582 w 1885"/>
              <a:gd name="T81" fmla="*/ 6 h 1846"/>
              <a:gd name="T82" fmla="*/ 618 w 1885"/>
              <a:gd name="T83" fmla="*/ 2 h 1846"/>
              <a:gd name="T84" fmla="*/ 1261 w 1885"/>
              <a:gd name="T85" fmla="*/ 0 h 18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885" h="1846">
                <a:moveTo>
                  <a:pt x="1261" y="0"/>
                </a:moveTo>
                <a:lnTo>
                  <a:pt x="1299" y="4"/>
                </a:lnTo>
                <a:lnTo>
                  <a:pt x="1337" y="15"/>
                </a:lnTo>
                <a:lnTo>
                  <a:pt x="1375" y="34"/>
                </a:lnTo>
                <a:lnTo>
                  <a:pt x="1409" y="57"/>
                </a:lnTo>
                <a:lnTo>
                  <a:pt x="1435" y="81"/>
                </a:lnTo>
                <a:lnTo>
                  <a:pt x="1838" y="584"/>
                </a:lnTo>
                <a:lnTo>
                  <a:pt x="1857" y="614"/>
                </a:lnTo>
                <a:lnTo>
                  <a:pt x="1872" y="652"/>
                </a:lnTo>
                <a:lnTo>
                  <a:pt x="1881" y="693"/>
                </a:lnTo>
                <a:lnTo>
                  <a:pt x="1885" y="733"/>
                </a:lnTo>
                <a:lnTo>
                  <a:pt x="1881" y="771"/>
                </a:lnTo>
                <a:lnTo>
                  <a:pt x="1740" y="1396"/>
                </a:lnTo>
                <a:lnTo>
                  <a:pt x="1726" y="1432"/>
                </a:lnTo>
                <a:lnTo>
                  <a:pt x="1708" y="1468"/>
                </a:lnTo>
                <a:lnTo>
                  <a:pt x="1681" y="1500"/>
                </a:lnTo>
                <a:lnTo>
                  <a:pt x="1651" y="1526"/>
                </a:lnTo>
                <a:lnTo>
                  <a:pt x="1621" y="1547"/>
                </a:lnTo>
                <a:lnTo>
                  <a:pt x="1042" y="1827"/>
                </a:lnTo>
                <a:lnTo>
                  <a:pt x="1006" y="1840"/>
                </a:lnTo>
                <a:lnTo>
                  <a:pt x="966" y="1846"/>
                </a:lnTo>
                <a:lnTo>
                  <a:pt x="925" y="1846"/>
                </a:lnTo>
                <a:lnTo>
                  <a:pt x="885" y="1840"/>
                </a:lnTo>
                <a:lnTo>
                  <a:pt x="851" y="1829"/>
                </a:lnTo>
                <a:lnTo>
                  <a:pt x="270" y="1551"/>
                </a:lnTo>
                <a:lnTo>
                  <a:pt x="238" y="1532"/>
                </a:lnTo>
                <a:lnTo>
                  <a:pt x="208" y="1504"/>
                </a:lnTo>
                <a:lnTo>
                  <a:pt x="182" y="1472"/>
                </a:lnTo>
                <a:lnTo>
                  <a:pt x="163" y="1438"/>
                </a:lnTo>
                <a:lnTo>
                  <a:pt x="149" y="1402"/>
                </a:lnTo>
                <a:lnTo>
                  <a:pt x="4" y="776"/>
                </a:lnTo>
                <a:lnTo>
                  <a:pt x="0" y="739"/>
                </a:lnTo>
                <a:lnTo>
                  <a:pt x="4" y="699"/>
                </a:lnTo>
                <a:lnTo>
                  <a:pt x="13" y="657"/>
                </a:lnTo>
                <a:lnTo>
                  <a:pt x="27" y="620"/>
                </a:lnTo>
                <a:lnTo>
                  <a:pt x="47" y="589"/>
                </a:lnTo>
                <a:lnTo>
                  <a:pt x="446" y="85"/>
                </a:lnTo>
                <a:lnTo>
                  <a:pt x="473" y="58"/>
                </a:lnTo>
                <a:lnTo>
                  <a:pt x="505" y="36"/>
                </a:lnTo>
                <a:lnTo>
                  <a:pt x="543" y="19"/>
                </a:lnTo>
                <a:lnTo>
                  <a:pt x="582" y="6"/>
                </a:lnTo>
                <a:lnTo>
                  <a:pt x="618" y="2"/>
                </a:lnTo>
                <a:lnTo>
                  <a:pt x="1261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 w="0">
            <a:noFill/>
            <a:prstDash val="solid"/>
            <a:round/>
            <a:headEnd/>
            <a:tailEnd/>
          </a:ln>
          <a:effectLst>
            <a:outerShdw blurRad="190500" sx="102000" sy="102000" algn="ctr" rotWithShape="0">
              <a:prstClr val="black">
                <a:alpha val="8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endParaRPr lang="en-IN" sz="24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TextBox 33">
            <a:extLst>
              <a:ext uri="{FF2B5EF4-FFF2-40B4-BE49-F238E27FC236}">
                <a16:creationId xmlns:a16="http://schemas.microsoft.com/office/drawing/2014/main" id="{BC896C96-13B8-482B-93D7-D2A1D5FD6F25}"/>
              </a:ext>
            </a:extLst>
          </p:cNvPr>
          <p:cNvSpPr txBox="1"/>
          <p:nvPr/>
        </p:nvSpPr>
        <p:spPr>
          <a:xfrm>
            <a:off x="6351189" y="2765050"/>
            <a:ext cx="38343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GB" sz="1400" b="1" dirty="0">
                <a:solidFill>
                  <a:prstClr val="white"/>
                </a:solidFill>
                <a:latin typeface="Arial" panose="020B0604020202020204" pitchFamily="34" charset="0"/>
                <a:cs typeface="Arial" pitchFamily="34" charset="0"/>
              </a:rPr>
              <a:t>01</a:t>
            </a:r>
            <a:endParaRPr lang="en-IN" sz="1400" b="1" dirty="0">
              <a:solidFill>
                <a:prstClr val="white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03" name="TextBox 34">
            <a:extLst>
              <a:ext uri="{FF2B5EF4-FFF2-40B4-BE49-F238E27FC236}">
                <a16:creationId xmlns:a16="http://schemas.microsoft.com/office/drawing/2014/main" id="{996D0197-A49B-E798-B7CB-95611B66FDF0}"/>
              </a:ext>
            </a:extLst>
          </p:cNvPr>
          <p:cNvSpPr txBox="1"/>
          <p:nvPr/>
        </p:nvSpPr>
        <p:spPr>
          <a:xfrm rot="2937415">
            <a:off x="7124580" y="3148668"/>
            <a:ext cx="38343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GB" sz="1400" b="1" dirty="0">
                <a:solidFill>
                  <a:prstClr val="white"/>
                </a:solidFill>
                <a:latin typeface="Arial" panose="020B0604020202020204" pitchFamily="34" charset="0"/>
                <a:cs typeface="Arial" pitchFamily="34" charset="0"/>
              </a:rPr>
              <a:t>02</a:t>
            </a:r>
            <a:endParaRPr lang="en-IN" sz="1400" b="1" dirty="0">
              <a:solidFill>
                <a:prstClr val="white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04" name="TextBox 35">
            <a:extLst>
              <a:ext uri="{FF2B5EF4-FFF2-40B4-BE49-F238E27FC236}">
                <a16:creationId xmlns:a16="http://schemas.microsoft.com/office/drawing/2014/main" id="{7A132075-F353-E9E8-A707-4A0F026B923B}"/>
              </a:ext>
            </a:extLst>
          </p:cNvPr>
          <p:cNvSpPr txBox="1"/>
          <p:nvPr/>
        </p:nvSpPr>
        <p:spPr>
          <a:xfrm rot="16949909">
            <a:off x="7307483" y="3979051"/>
            <a:ext cx="38343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GB" sz="1400" b="1" dirty="0">
                <a:solidFill>
                  <a:prstClr val="white"/>
                </a:solidFill>
                <a:latin typeface="Arial" panose="020B0604020202020204" pitchFamily="34" charset="0"/>
                <a:cs typeface="Arial" pitchFamily="34" charset="0"/>
              </a:rPr>
              <a:t>03</a:t>
            </a:r>
            <a:endParaRPr lang="en-IN" sz="1400" b="1" dirty="0">
              <a:solidFill>
                <a:prstClr val="white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05" name="TextBox 36">
            <a:extLst>
              <a:ext uri="{FF2B5EF4-FFF2-40B4-BE49-F238E27FC236}">
                <a16:creationId xmlns:a16="http://schemas.microsoft.com/office/drawing/2014/main" id="{93D38558-22F5-D621-4AA4-22147566D67C}"/>
              </a:ext>
            </a:extLst>
          </p:cNvPr>
          <p:cNvSpPr txBox="1"/>
          <p:nvPr/>
        </p:nvSpPr>
        <p:spPr>
          <a:xfrm rot="20026711">
            <a:off x="6767596" y="4644069"/>
            <a:ext cx="38343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GB" sz="1400" b="1" dirty="0">
                <a:solidFill>
                  <a:prstClr val="white"/>
                </a:solidFill>
                <a:latin typeface="Arial" panose="020B0604020202020204" pitchFamily="34" charset="0"/>
                <a:cs typeface="Arial" pitchFamily="34" charset="0"/>
              </a:rPr>
              <a:t>04</a:t>
            </a:r>
            <a:endParaRPr lang="en-IN" sz="1400" b="1" dirty="0">
              <a:solidFill>
                <a:prstClr val="white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06" name="TextBox 37">
            <a:extLst>
              <a:ext uri="{FF2B5EF4-FFF2-40B4-BE49-F238E27FC236}">
                <a16:creationId xmlns:a16="http://schemas.microsoft.com/office/drawing/2014/main" id="{91E8DB43-5863-6322-3806-5862F893032F}"/>
              </a:ext>
            </a:extLst>
          </p:cNvPr>
          <p:cNvSpPr txBox="1"/>
          <p:nvPr/>
        </p:nvSpPr>
        <p:spPr>
          <a:xfrm rot="1465680">
            <a:off x="5925240" y="4649612"/>
            <a:ext cx="38343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GB" sz="1400" b="1" dirty="0">
                <a:solidFill>
                  <a:prstClr val="white"/>
                </a:solidFill>
                <a:latin typeface="Arial" panose="020B0604020202020204" pitchFamily="34" charset="0"/>
                <a:cs typeface="Arial" pitchFamily="34" charset="0"/>
              </a:rPr>
              <a:t>05</a:t>
            </a:r>
            <a:endParaRPr lang="en-IN" sz="1400" b="1" dirty="0">
              <a:solidFill>
                <a:prstClr val="white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07" name="TextBox 38">
            <a:extLst>
              <a:ext uri="{FF2B5EF4-FFF2-40B4-BE49-F238E27FC236}">
                <a16:creationId xmlns:a16="http://schemas.microsoft.com/office/drawing/2014/main" id="{579D9A1F-5977-7CE5-729E-789EE3F6FBB0}"/>
              </a:ext>
            </a:extLst>
          </p:cNvPr>
          <p:cNvSpPr txBox="1"/>
          <p:nvPr/>
        </p:nvSpPr>
        <p:spPr>
          <a:xfrm rot="15412784">
            <a:off x="5387684" y="4012302"/>
            <a:ext cx="38343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GB" sz="1400" b="1" dirty="0">
                <a:solidFill>
                  <a:prstClr val="white"/>
                </a:solidFill>
                <a:latin typeface="Arial" panose="020B0604020202020204" pitchFamily="34" charset="0"/>
                <a:cs typeface="Arial" pitchFamily="34" charset="0"/>
              </a:rPr>
              <a:t>06</a:t>
            </a:r>
            <a:endParaRPr lang="en-IN" sz="1400" b="1" dirty="0">
              <a:solidFill>
                <a:prstClr val="white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08" name="TextBox 39">
            <a:extLst>
              <a:ext uri="{FF2B5EF4-FFF2-40B4-BE49-F238E27FC236}">
                <a16:creationId xmlns:a16="http://schemas.microsoft.com/office/drawing/2014/main" id="{A71F65B0-4B01-7E2F-06A3-F779B2E815D6}"/>
              </a:ext>
            </a:extLst>
          </p:cNvPr>
          <p:cNvSpPr txBox="1"/>
          <p:nvPr/>
        </p:nvSpPr>
        <p:spPr>
          <a:xfrm rot="18533137">
            <a:off x="5570567" y="3153320"/>
            <a:ext cx="38343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GB" sz="1400" b="1" dirty="0">
                <a:solidFill>
                  <a:prstClr val="white"/>
                </a:solidFill>
                <a:latin typeface="Arial" panose="020B0604020202020204" pitchFamily="34" charset="0"/>
                <a:cs typeface="Arial" pitchFamily="34" charset="0"/>
              </a:rPr>
              <a:t>07</a:t>
            </a:r>
            <a:endParaRPr lang="en-IN" sz="1400" b="1" dirty="0">
              <a:solidFill>
                <a:prstClr val="white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09" name="TextBox 41">
            <a:extLst>
              <a:ext uri="{FF2B5EF4-FFF2-40B4-BE49-F238E27FC236}">
                <a16:creationId xmlns:a16="http://schemas.microsoft.com/office/drawing/2014/main" id="{15B4557F-F245-0A6B-0FE0-C59F8A1185B6}"/>
              </a:ext>
            </a:extLst>
          </p:cNvPr>
          <p:cNvSpPr txBox="1"/>
          <p:nvPr/>
        </p:nvSpPr>
        <p:spPr>
          <a:xfrm>
            <a:off x="5867384" y="1687451"/>
            <a:ext cx="1416177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IN" sz="1400" b="1" dirty="0">
                <a:solidFill>
                  <a:srgbClr val="F8991D"/>
                </a:solidFill>
                <a:latin typeface="Arial" panose="020B0604020202020204" pitchFamily="34" charset="0"/>
                <a:cs typeface="Arial" pitchFamily="34" charset="0"/>
              </a:rPr>
              <a:t>Decision Tree</a:t>
            </a:r>
          </a:p>
        </p:txBody>
      </p:sp>
      <p:sp>
        <p:nvSpPr>
          <p:cNvPr id="210" name="TextBox 43">
            <a:extLst>
              <a:ext uri="{FF2B5EF4-FFF2-40B4-BE49-F238E27FC236}">
                <a16:creationId xmlns:a16="http://schemas.microsoft.com/office/drawing/2014/main" id="{4D0346E4-F474-283F-1009-18E2DE716BC1}"/>
              </a:ext>
            </a:extLst>
          </p:cNvPr>
          <p:cNvSpPr txBox="1"/>
          <p:nvPr/>
        </p:nvSpPr>
        <p:spPr>
          <a:xfrm rot="551722">
            <a:off x="7261699" y="2370531"/>
            <a:ext cx="1659954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US" sz="1400" b="1" dirty="0">
                <a:solidFill>
                  <a:srgbClr val="03A788"/>
                </a:solidFill>
                <a:latin typeface="Arial" panose="020B0604020202020204" pitchFamily="34" charset="0"/>
                <a:cs typeface="Arial" pitchFamily="34" charset="0"/>
              </a:rPr>
              <a:t>Logistic Regression</a:t>
            </a:r>
          </a:p>
        </p:txBody>
      </p:sp>
      <p:sp>
        <p:nvSpPr>
          <p:cNvPr id="211" name="TextBox 45">
            <a:extLst>
              <a:ext uri="{FF2B5EF4-FFF2-40B4-BE49-F238E27FC236}">
                <a16:creationId xmlns:a16="http://schemas.microsoft.com/office/drawing/2014/main" id="{ED60E913-D79F-26F5-78D5-228161BD48A3}"/>
              </a:ext>
            </a:extLst>
          </p:cNvPr>
          <p:cNvSpPr txBox="1"/>
          <p:nvPr/>
        </p:nvSpPr>
        <p:spPr>
          <a:xfrm>
            <a:off x="7596044" y="4138730"/>
            <a:ext cx="1644397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GB" sz="1400" b="1" dirty="0">
                <a:solidFill>
                  <a:srgbClr val="D83234"/>
                </a:solidFill>
                <a:latin typeface="Arial" panose="020B0604020202020204" pitchFamily="34" charset="0"/>
                <a:cs typeface="Arial" pitchFamily="34" charset="0"/>
              </a:rPr>
              <a:t>Neural Networks</a:t>
            </a:r>
          </a:p>
        </p:txBody>
      </p:sp>
      <p:sp>
        <p:nvSpPr>
          <p:cNvPr id="212" name="TextBox 51">
            <a:extLst>
              <a:ext uri="{FF2B5EF4-FFF2-40B4-BE49-F238E27FC236}">
                <a16:creationId xmlns:a16="http://schemas.microsoft.com/office/drawing/2014/main" id="{2FA9D8C5-8D78-4A43-FD16-10A0231DE635}"/>
              </a:ext>
            </a:extLst>
          </p:cNvPr>
          <p:cNvSpPr txBox="1"/>
          <p:nvPr/>
        </p:nvSpPr>
        <p:spPr>
          <a:xfrm>
            <a:off x="3664670" y="4083622"/>
            <a:ext cx="1620977" cy="4924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US" sz="1300" b="1" dirty="0">
                <a:solidFill>
                  <a:srgbClr val="65A443"/>
                </a:solidFill>
                <a:latin typeface="Arial" panose="020B0604020202020204" pitchFamily="34" charset="0"/>
                <a:cs typeface="Arial" pitchFamily="34" charset="0"/>
              </a:rPr>
              <a:t>Gradient Boosting</a:t>
            </a:r>
          </a:p>
        </p:txBody>
      </p:sp>
      <p:sp>
        <p:nvSpPr>
          <p:cNvPr id="213" name="TextBox 53">
            <a:extLst>
              <a:ext uri="{FF2B5EF4-FFF2-40B4-BE49-F238E27FC236}">
                <a16:creationId xmlns:a16="http://schemas.microsoft.com/office/drawing/2014/main" id="{773303FE-4F99-FE50-D8E7-5842A285AA07}"/>
              </a:ext>
            </a:extLst>
          </p:cNvPr>
          <p:cNvSpPr txBox="1"/>
          <p:nvPr/>
        </p:nvSpPr>
        <p:spPr>
          <a:xfrm rot="20275824">
            <a:off x="4011478" y="2584935"/>
            <a:ext cx="1615569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US" sz="1400" b="1" dirty="0">
                <a:solidFill>
                  <a:srgbClr val="A35BA4"/>
                </a:solidFill>
                <a:latin typeface="Arial" panose="020B0604020202020204" pitchFamily="34" charset="0"/>
                <a:cs typeface="Arial" pitchFamily="34" charset="0"/>
              </a:rPr>
              <a:t>XG Boost</a:t>
            </a:r>
          </a:p>
        </p:txBody>
      </p:sp>
      <p:sp>
        <p:nvSpPr>
          <p:cNvPr id="214" name="TextBox 54">
            <a:extLst>
              <a:ext uri="{FF2B5EF4-FFF2-40B4-BE49-F238E27FC236}">
                <a16:creationId xmlns:a16="http://schemas.microsoft.com/office/drawing/2014/main" id="{90AD56DC-9839-F437-9DFC-16F6FDA0D202}"/>
              </a:ext>
            </a:extLst>
          </p:cNvPr>
          <p:cNvSpPr txBox="1"/>
          <p:nvPr/>
        </p:nvSpPr>
        <p:spPr>
          <a:xfrm>
            <a:off x="5785984" y="3691103"/>
            <a:ext cx="146346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US" sz="16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itchFamily="34" charset="0"/>
              </a:rPr>
              <a:t>Algorithm</a:t>
            </a:r>
          </a:p>
        </p:txBody>
      </p:sp>
      <p:sp>
        <p:nvSpPr>
          <p:cNvPr id="215" name="TextBox 81">
            <a:extLst>
              <a:ext uri="{FF2B5EF4-FFF2-40B4-BE49-F238E27FC236}">
                <a16:creationId xmlns:a16="http://schemas.microsoft.com/office/drawing/2014/main" id="{F711819D-688E-4F63-90FB-4AFAD823A145}"/>
              </a:ext>
            </a:extLst>
          </p:cNvPr>
          <p:cNvSpPr txBox="1"/>
          <p:nvPr/>
        </p:nvSpPr>
        <p:spPr>
          <a:xfrm rot="2937415">
            <a:off x="7124579" y="3148669"/>
            <a:ext cx="38343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GB" sz="1400" b="1" dirty="0">
                <a:solidFill>
                  <a:prstClr val="white"/>
                </a:solidFill>
                <a:latin typeface="Arial" panose="020B0604020202020204" pitchFamily="34" charset="0"/>
                <a:cs typeface="Arial" pitchFamily="34" charset="0"/>
              </a:rPr>
              <a:t>02</a:t>
            </a:r>
            <a:endParaRPr lang="en-IN" sz="1400" b="1" dirty="0">
              <a:solidFill>
                <a:prstClr val="white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16" name="TextBox 82">
            <a:extLst>
              <a:ext uri="{FF2B5EF4-FFF2-40B4-BE49-F238E27FC236}">
                <a16:creationId xmlns:a16="http://schemas.microsoft.com/office/drawing/2014/main" id="{565FCFF6-698B-4229-8FAD-B6EA9E5603E2}"/>
              </a:ext>
            </a:extLst>
          </p:cNvPr>
          <p:cNvSpPr txBox="1"/>
          <p:nvPr/>
        </p:nvSpPr>
        <p:spPr>
          <a:xfrm rot="16949909">
            <a:off x="7307482" y="3979052"/>
            <a:ext cx="38343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GB" sz="1400" b="1" dirty="0">
                <a:solidFill>
                  <a:prstClr val="white"/>
                </a:solidFill>
                <a:latin typeface="Arial" panose="020B0604020202020204" pitchFamily="34" charset="0"/>
                <a:cs typeface="Arial" pitchFamily="34" charset="0"/>
              </a:rPr>
              <a:t>03</a:t>
            </a:r>
            <a:endParaRPr lang="en-IN" sz="1400" b="1" dirty="0">
              <a:solidFill>
                <a:prstClr val="white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17" name="TextBox 83">
            <a:extLst>
              <a:ext uri="{FF2B5EF4-FFF2-40B4-BE49-F238E27FC236}">
                <a16:creationId xmlns:a16="http://schemas.microsoft.com/office/drawing/2014/main" id="{905E22C3-81C7-41C9-9FE4-D8AC0B89F29D}"/>
              </a:ext>
            </a:extLst>
          </p:cNvPr>
          <p:cNvSpPr txBox="1"/>
          <p:nvPr/>
        </p:nvSpPr>
        <p:spPr>
          <a:xfrm rot="20026711">
            <a:off x="6767595" y="4644070"/>
            <a:ext cx="38343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GB" sz="1400" b="1" dirty="0">
                <a:solidFill>
                  <a:prstClr val="white"/>
                </a:solidFill>
                <a:latin typeface="Arial" panose="020B0604020202020204" pitchFamily="34" charset="0"/>
                <a:cs typeface="Arial" pitchFamily="34" charset="0"/>
              </a:rPr>
              <a:t>04</a:t>
            </a:r>
            <a:endParaRPr lang="en-IN" sz="1400" b="1" dirty="0">
              <a:solidFill>
                <a:prstClr val="white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18" name="TextBox 84">
            <a:extLst>
              <a:ext uri="{FF2B5EF4-FFF2-40B4-BE49-F238E27FC236}">
                <a16:creationId xmlns:a16="http://schemas.microsoft.com/office/drawing/2014/main" id="{9D66E138-2B1C-4011-ACA1-DE63AC7C640D}"/>
              </a:ext>
            </a:extLst>
          </p:cNvPr>
          <p:cNvSpPr txBox="1"/>
          <p:nvPr/>
        </p:nvSpPr>
        <p:spPr>
          <a:xfrm rot="1465680">
            <a:off x="5925239" y="4649613"/>
            <a:ext cx="38343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GB" sz="1400" b="1" dirty="0">
                <a:solidFill>
                  <a:prstClr val="white"/>
                </a:solidFill>
                <a:latin typeface="Arial" panose="020B0604020202020204" pitchFamily="34" charset="0"/>
                <a:cs typeface="Arial" pitchFamily="34" charset="0"/>
              </a:rPr>
              <a:t>05</a:t>
            </a:r>
            <a:endParaRPr lang="en-IN" sz="1400" b="1" dirty="0">
              <a:solidFill>
                <a:prstClr val="white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19" name="TextBox 85">
            <a:extLst>
              <a:ext uri="{FF2B5EF4-FFF2-40B4-BE49-F238E27FC236}">
                <a16:creationId xmlns:a16="http://schemas.microsoft.com/office/drawing/2014/main" id="{89C6B8A6-1F12-4DBE-83B4-7EC2C69FDFD4}"/>
              </a:ext>
            </a:extLst>
          </p:cNvPr>
          <p:cNvSpPr txBox="1"/>
          <p:nvPr/>
        </p:nvSpPr>
        <p:spPr>
          <a:xfrm rot="15412784">
            <a:off x="5387683" y="4012303"/>
            <a:ext cx="38343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GB" sz="1400" b="1" dirty="0">
                <a:solidFill>
                  <a:prstClr val="white"/>
                </a:solidFill>
                <a:latin typeface="Arial" panose="020B0604020202020204" pitchFamily="34" charset="0"/>
                <a:cs typeface="Arial" pitchFamily="34" charset="0"/>
              </a:rPr>
              <a:t>06</a:t>
            </a:r>
            <a:endParaRPr lang="en-IN" sz="1400" b="1" dirty="0">
              <a:solidFill>
                <a:prstClr val="white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21" name="TextBox 57">
            <a:extLst>
              <a:ext uri="{FF2B5EF4-FFF2-40B4-BE49-F238E27FC236}">
                <a16:creationId xmlns:a16="http://schemas.microsoft.com/office/drawing/2014/main" id="{8A909CD6-52B8-44B6-B02E-248685A6364F}"/>
              </a:ext>
            </a:extLst>
          </p:cNvPr>
          <p:cNvSpPr txBox="1"/>
          <p:nvPr/>
        </p:nvSpPr>
        <p:spPr>
          <a:xfrm>
            <a:off x="4978484" y="5407481"/>
            <a:ext cx="1297126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US" sz="1400" b="1" dirty="0">
                <a:solidFill>
                  <a:schemeClr val="accent2"/>
                </a:solidFill>
              </a:rPr>
              <a:t>Support Vector Machine</a:t>
            </a:r>
            <a:endParaRPr lang="en-GB" sz="1400" b="1" dirty="0">
              <a:solidFill>
                <a:schemeClr val="accent2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22" name="TextBox 59">
            <a:extLst>
              <a:ext uri="{FF2B5EF4-FFF2-40B4-BE49-F238E27FC236}">
                <a16:creationId xmlns:a16="http://schemas.microsoft.com/office/drawing/2014/main" id="{9CCED5DF-2EE4-47DE-817E-0ADEB4AAA041}"/>
              </a:ext>
            </a:extLst>
          </p:cNvPr>
          <p:cNvSpPr txBox="1"/>
          <p:nvPr/>
        </p:nvSpPr>
        <p:spPr>
          <a:xfrm>
            <a:off x="6538787" y="5441482"/>
            <a:ext cx="1597780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8987"/>
            <a:r>
              <a:rPr lang="en-US" sz="1400" b="1" dirty="0">
                <a:solidFill>
                  <a:srgbClr val="00B0F0"/>
                </a:solidFill>
              </a:rPr>
              <a:t>Isolation Forest</a:t>
            </a:r>
            <a:endParaRPr lang="en-GB" sz="1400" b="1" dirty="0">
              <a:solidFill>
                <a:srgbClr val="00B0F0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pic>
        <p:nvPicPr>
          <p:cNvPr id="223" name="Picture 222">
            <a:extLst>
              <a:ext uri="{FF2B5EF4-FFF2-40B4-BE49-F238E27FC236}">
                <a16:creationId xmlns:a16="http://schemas.microsoft.com/office/drawing/2014/main" id="{39314D3D-8245-415F-9CDA-B76F095EC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8679" y="0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55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3CD088-E23A-1371-C9D6-E5FB9E4B55D5}"/>
              </a:ext>
            </a:extLst>
          </p:cNvPr>
          <p:cNvSpPr/>
          <p:nvPr/>
        </p:nvSpPr>
        <p:spPr>
          <a:xfrm>
            <a:off x="0" y="15669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D96D75-E55B-2598-7AE4-6EE48CD90999}"/>
              </a:ext>
            </a:extLst>
          </p:cNvPr>
          <p:cNvSpPr txBox="1"/>
          <p:nvPr/>
        </p:nvSpPr>
        <p:spPr>
          <a:xfrm>
            <a:off x="1041991" y="443254"/>
            <a:ext cx="1137683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PK" sz="4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</a:t>
            </a:r>
            <a:endParaRPr lang="en-PK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P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5A3636-7847-3E78-AA35-BA6A1FBB2663}"/>
              </a:ext>
            </a:extLst>
          </p:cNvPr>
          <p:cNvSpPr txBox="1"/>
          <p:nvPr/>
        </p:nvSpPr>
        <p:spPr>
          <a:xfrm>
            <a:off x="1041991" y="1278154"/>
            <a:ext cx="7123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Tools &amp; Technologies Used</a:t>
            </a:r>
            <a:endParaRPr lang="en-PK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63960B-41D8-AF7D-68EC-12200BAE60FF}"/>
              </a:ext>
            </a:extLst>
          </p:cNvPr>
          <p:cNvSpPr txBox="1"/>
          <p:nvPr/>
        </p:nvSpPr>
        <p:spPr>
          <a:xfrm>
            <a:off x="935665" y="1820303"/>
            <a:ext cx="7846828" cy="1657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marR="0" lvl="1" indent="-342900">
              <a:lnSpc>
                <a:spcPct val="107000"/>
              </a:lnSpc>
              <a:buSzPct val="150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 language: </a:t>
            </a: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endParaRPr lang="en-PK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lvl="1" indent="-342900">
              <a:lnSpc>
                <a:spcPct val="107000"/>
              </a:lnSpc>
              <a:buSzPct val="150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Libraries: </a:t>
            </a: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Pandas, </a:t>
            </a:r>
            <a:r>
              <a:rPr lang="en-PK" sz="24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Sklearn</a:t>
            </a: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Seaborn, Matplotlib</a:t>
            </a:r>
            <a:endParaRPr lang="en-PK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marR="0" lvl="1" indent="-342900">
              <a:lnSpc>
                <a:spcPct val="107000"/>
              </a:lnSpc>
              <a:spcAft>
                <a:spcPts val="800"/>
              </a:spcAft>
              <a:buSzPct val="150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Processing: </a:t>
            </a:r>
            <a:r>
              <a:rPr lang="en-US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Google </a:t>
            </a:r>
            <a:r>
              <a:rPr lang="en-PK" sz="24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Colab</a:t>
            </a: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Notebook</a:t>
            </a:r>
            <a:endParaRPr lang="en-PK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PK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8EC883-D2A3-43DF-01BA-3AC9ED051E92}"/>
              </a:ext>
            </a:extLst>
          </p:cNvPr>
          <p:cNvSpPr txBox="1"/>
          <p:nvPr/>
        </p:nvSpPr>
        <p:spPr>
          <a:xfrm>
            <a:off x="1297172" y="3429000"/>
            <a:ext cx="5784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Steps in Implementation:</a:t>
            </a:r>
            <a:endParaRPr lang="en-PK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PK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FE1B8-6EE6-4BAF-5310-F801CEE8E683}"/>
              </a:ext>
            </a:extLst>
          </p:cNvPr>
          <p:cNvSpPr txBox="1"/>
          <p:nvPr/>
        </p:nvSpPr>
        <p:spPr>
          <a:xfrm>
            <a:off x="1212111" y="4259997"/>
            <a:ext cx="7846828" cy="2447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>
              <a:lnSpc>
                <a:spcPct val="107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collection &amp; cleaning.</a:t>
            </a:r>
          </a:p>
          <a:p>
            <a:pPr marL="742950" marR="0" lvl="1" indent="-285750">
              <a:lnSpc>
                <a:spcPct val="107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Feature selection &amp; engineering.</a:t>
            </a:r>
          </a:p>
          <a:p>
            <a:pPr marL="742950" marR="0" lvl="1" indent="-285750">
              <a:lnSpc>
                <a:spcPct val="107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Training ML models.</a:t>
            </a:r>
          </a:p>
          <a:p>
            <a:pPr marL="742950" marR="0" lvl="1" indent="-285750">
              <a:lnSpc>
                <a:spcPct val="107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evaluation using performance metrics.</a:t>
            </a: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Deploying as an API or web app.</a:t>
            </a:r>
          </a:p>
          <a:p>
            <a:endParaRPr lang="en-PK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88C604C-6F1B-A9C4-5B87-850DD2D7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980" y="42522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14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1406E1-9566-3A77-1AF9-EA2610B20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2149" cy="685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371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D1ACC-39AC-312E-E512-36BEF4255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"/>
            <a:ext cx="12192151" cy="685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86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ACDB16-958A-B47C-3C76-5E2FE192AA36}"/>
              </a:ext>
            </a:extLst>
          </p:cNvPr>
          <p:cNvSpPr txBox="1"/>
          <p:nvPr/>
        </p:nvSpPr>
        <p:spPr>
          <a:xfrm>
            <a:off x="457200" y="457200"/>
            <a:ext cx="9324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 Training &amp; Evaluation</a:t>
            </a:r>
            <a:endParaRPr lang="en-PK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4D2A6-B67D-1E31-55C0-7CCE630DD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392" y="1286540"/>
            <a:ext cx="9537404" cy="536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00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E5176D-0B8C-028A-FC6D-D37123A67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6" y="59892"/>
            <a:ext cx="11780873" cy="662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18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243591-84A5-6DA5-B12D-D66669DDB44B}"/>
              </a:ext>
            </a:extLst>
          </p:cNvPr>
          <p:cNvSpPr/>
          <p:nvPr/>
        </p:nvSpPr>
        <p:spPr>
          <a:xfrm>
            <a:off x="-46038" y="15669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EF26D0-B7FC-2096-CBA2-2BCB0A5BF82B}"/>
              </a:ext>
            </a:extLst>
          </p:cNvPr>
          <p:cNvSpPr txBox="1"/>
          <p:nvPr/>
        </p:nvSpPr>
        <p:spPr>
          <a:xfrm>
            <a:off x="701749" y="606056"/>
            <a:ext cx="4805916" cy="5806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Metrics Used:</a:t>
            </a:r>
            <a:endParaRPr lang="en-US" sz="3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PK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SzPct val="100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Accuracy:</a:t>
            </a: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Measures overall correctness.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buSzPct val="100000"/>
              <a:tabLst>
                <a:tab pos="914400" algn="l"/>
              </a:tabLst>
            </a:pPr>
            <a:endParaRPr lang="en-PK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SzPct val="100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Precision &amp; Recall:</a:t>
            </a: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Balance between fraud detection and false alarms.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buSzPct val="100000"/>
              <a:tabLst>
                <a:tab pos="914400" algn="l"/>
              </a:tabLst>
            </a:pPr>
            <a:endParaRPr lang="en-PK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ct val="100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F1-score:</a:t>
            </a: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Harmonic mean of precision &amp; recall.</a:t>
            </a:r>
          </a:p>
          <a:p>
            <a:endParaRPr lang="en-P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1EBB7D-4FB8-7DBA-0BD3-D94DC2242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784" y="1641844"/>
            <a:ext cx="6210300" cy="4610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BD71F3-88A0-9858-E964-48238E77A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980" y="42522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66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7.png">
            <a:extLst>
              <a:ext uri="{FF2B5EF4-FFF2-40B4-BE49-F238E27FC236}">
                <a16:creationId xmlns:a16="http://schemas.microsoft.com/office/drawing/2014/main" id="{D62ECACA-B8B4-3971-9722-132CE7B370C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68287" y="660400"/>
            <a:ext cx="5862638" cy="5048250"/>
          </a:xfrm>
          <a:prstGeom prst="rect">
            <a:avLst/>
          </a:prstGeom>
          <a:ln/>
        </p:spPr>
      </p:pic>
      <p:pic>
        <p:nvPicPr>
          <p:cNvPr id="4" name="image6.png">
            <a:extLst>
              <a:ext uri="{FF2B5EF4-FFF2-40B4-BE49-F238E27FC236}">
                <a16:creationId xmlns:a16="http://schemas.microsoft.com/office/drawing/2014/main" id="{4D0B1EA6-F4C7-F1DB-C059-A266F2D48C1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130925" y="831850"/>
            <a:ext cx="5862638" cy="470535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442567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CDC632-F0C8-F763-66FB-07C6C9D94E4D}"/>
              </a:ext>
            </a:extLst>
          </p:cNvPr>
          <p:cNvSpPr/>
          <p:nvPr/>
        </p:nvSpPr>
        <p:spPr>
          <a:xfrm>
            <a:off x="-46038" y="15669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C92D64-AF82-D008-47AF-E85822A7322E}"/>
              </a:ext>
            </a:extLst>
          </p:cNvPr>
          <p:cNvSpPr txBox="1"/>
          <p:nvPr/>
        </p:nvSpPr>
        <p:spPr>
          <a:xfrm>
            <a:off x="1063256" y="606056"/>
            <a:ext cx="64752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Results &amp; Findings</a:t>
            </a:r>
            <a:endParaRPr lang="en-PK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50BDAB-558B-BDB7-6D22-D513CB05BD06}"/>
              </a:ext>
            </a:extLst>
          </p:cNvPr>
          <p:cNvSpPr txBox="1"/>
          <p:nvPr/>
        </p:nvSpPr>
        <p:spPr>
          <a:xfrm>
            <a:off x="1180214" y="1616149"/>
            <a:ext cx="8506046" cy="33305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>
              <a:lnSpc>
                <a:spcPct val="107000"/>
              </a:lnSpc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improves fraud detection accuracy.</a:t>
            </a:r>
          </a:p>
          <a:p>
            <a:pPr marL="457200" marR="0" lvl="0" indent="-457200">
              <a:lnSpc>
                <a:spcPct val="107000"/>
              </a:lnSpc>
              <a:spcAft>
                <a:spcPts val="800"/>
              </a:spcAft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 performed best</a:t>
            </a:r>
            <a:r>
              <a:rPr lang="en-PK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>
              <a:lnSpc>
                <a:spcPct val="107000"/>
              </a:lnSpc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Handling </a:t>
            </a:r>
            <a:r>
              <a:rPr lang="en-PK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imbalanced data</a:t>
            </a:r>
            <a:r>
              <a:rPr lang="en-PK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improved detection.</a:t>
            </a:r>
            <a:endParaRPr lang="en-PK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457200">
              <a:lnSpc>
                <a:spcPct val="107000"/>
              </a:lnSpc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system can help banks detect fraud in </a:t>
            </a:r>
            <a:r>
              <a:rPr lang="en-PK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 time</a:t>
            </a:r>
            <a:r>
              <a:rPr lang="en-PK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prevent financial losses.</a:t>
            </a:r>
            <a:endParaRPr lang="en-PK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B2A29-5C72-AD71-5E2F-D2205AFC8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980" y="42522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795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DD2920-DB05-6C6A-2302-1ED68459DD92}"/>
              </a:ext>
            </a:extLst>
          </p:cNvPr>
          <p:cNvSpPr/>
          <p:nvPr/>
        </p:nvSpPr>
        <p:spPr>
          <a:xfrm>
            <a:off x="-46038" y="15669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D3629D-60FD-ADC8-45C7-57C10F3B4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512" y="436562"/>
            <a:ext cx="8066088" cy="552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49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22702D-3C53-C058-B0AF-7EE4E7F65FAE}"/>
              </a:ext>
            </a:extLst>
          </p:cNvPr>
          <p:cNvSpPr/>
          <p:nvPr/>
        </p:nvSpPr>
        <p:spPr>
          <a:xfrm>
            <a:off x="-46038" y="15669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A184A-1D2A-E925-1827-C0400137A774}"/>
              </a:ext>
            </a:extLst>
          </p:cNvPr>
          <p:cNvSpPr txBox="1"/>
          <p:nvPr/>
        </p:nvSpPr>
        <p:spPr>
          <a:xfrm>
            <a:off x="723014" y="510362"/>
            <a:ext cx="7868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 &amp; Limitations</a:t>
            </a:r>
            <a:endParaRPr lang="en-PK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6A7C7F-34C4-5641-6B25-767C40257441}"/>
              </a:ext>
            </a:extLst>
          </p:cNvPr>
          <p:cNvSpPr txBox="1"/>
          <p:nvPr/>
        </p:nvSpPr>
        <p:spPr>
          <a:xfrm>
            <a:off x="574158" y="1552353"/>
            <a:ext cx="8357191" cy="3852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Fraud cases are rare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difficult to train the model properly.</a:t>
            </a:r>
          </a:p>
          <a:p>
            <a:pPr marL="342900" marR="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Computational power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complex models like Neural Networks take more time to process.</a:t>
            </a:r>
          </a:p>
          <a:p>
            <a:pPr marL="342900" marR="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False Positives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Some real transactions may be flagged as fraud.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PK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detection</a:t>
            </a:r>
            <a:r>
              <a:rPr lang="en-PK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→ Needs further optimization</a:t>
            </a:r>
          </a:p>
          <a:p>
            <a:endParaRPr lang="en-PK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1C5661-9305-BD6F-7CBB-E9D80BCA5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980" y="42522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552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FD35ED-F514-14C4-E38D-963E9C340E12}"/>
              </a:ext>
            </a:extLst>
          </p:cNvPr>
          <p:cNvSpPr/>
          <p:nvPr/>
        </p:nvSpPr>
        <p:spPr>
          <a:xfrm>
            <a:off x="-46038" y="15669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C531ED-68A1-83AD-4AEC-3CD0CE9707E3}"/>
              </a:ext>
            </a:extLst>
          </p:cNvPr>
          <p:cNvSpPr txBox="1"/>
          <p:nvPr/>
        </p:nvSpPr>
        <p:spPr>
          <a:xfrm>
            <a:off x="723014" y="255181"/>
            <a:ext cx="79531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4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Future Work</a:t>
            </a:r>
            <a:endParaRPr lang="en-PK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607B8-9475-D184-8842-228EE2B337D8}"/>
              </a:ext>
            </a:extLst>
          </p:cNvPr>
          <p:cNvSpPr txBox="1"/>
          <p:nvPr/>
        </p:nvSpPr>
        <p:spPr>
          <a:xfrm>
            <a:off x="1020726" y="1796902"/>
            <a:ext cx="8123274" cy="205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07000"/>
              </a:lnSpc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 the system with Deep Learning.</a:t>
            </a:r>
            <a:endParaRPr lang="en-PK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 fraud detection real-time.</a:t>
            </a:r>
            <a:endParaRPr lang="en-PK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Integrate </a:t>
            </a:r>
            <a:r>
              <a:rPr lang="en-PK" sz="24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behavioral</a:t>
            </a: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analysis</a:t>
            </a: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detect fraud based on user habits.</a:t>
            </a:r>
          </a:p>
          <a:p>
            <a:pPr marL="342900" marR="0" lvl="0" indent="-342900">
              <a:lnSpc>
                <a:spcPct val="107000"/>
              </a:lnSpc>
              <a:buSzPct val="150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Deploy as a web or mobile app</a:t>
            </a: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banks and customers.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AA8117-658B-07D3-316A-5391D0512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980" y="42522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387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6E8587-6175-618A-B92A-C773F5BF08FC}"/>
              </a:ext>
            </a:extLst>
          </p:cNvPr>
          <p:cNvSpPr/>
          <p:nvPr/>
        </p:nvSpPr>
        <p:spPr>
          <a:xfrm>
            <a:off x="-46038" y="15669"/>
            <a:ext cx="12284075" cy="6842331"/>
          </a:xfrm>
          <a:prstGeom prst="rect">
            <a:avLst/>
          </a:prstGeom>
          <a:gradFill>
            <a:gsLst>
              <a:gs pos="0">
                <a:srgbClr val="1CADE4">
                  <a:alpha val="70000"/>
                </a:srgbClr>
              </a:gs>
              <a:gs pos="100000">
                <a:srgbClr val="2683C6">
                  <a:alpha val="1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86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399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CF4D1D-1C77-5B4E-517E-EF56C59F736C}"/>
              </a:ext>
            </a:extLst>
          </p:cNvPr>
          <p:cNvSpPr txBox="1"/>
          <p:nvPr/>
        </p:nvSpPr>
        <p:spPr>
          <a:xfrm>
            <a:off x="475806" y="551187"/>
            <a:ext cx="6097772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>
              <a:lnSpc>
                <a:spcPct val="107000"/>
              </a:lnSpc>
              <a:spcAft>
                <a:spcPts val="800"/>
              </a:spcAft>
            </a:pPr>
            <a:r>
              <a:rPr lang="en-PK" sz="4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en-PK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2670A4-8458-75C2-DC77-4E60F7C135FD}"/>
              </a:ext>
            </a:extLst>
          </p:cNvPr>
          <p:cNvSpPr txBox="1"/>
          <p:nvPr/>
        </p:nvSpPr>
        <p:spPr>
          <a:xfrm>
            <a:off x="975536" y="2118893"/>
            <a:ext cx="9040333" cy="323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marR="0" indent="-342900">
              <a:lnSpc>
                <a:spcPct val="107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Credit card fraud is a growing issue</a:t>
            </a: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traditional methods are not effective.</a:t>
            </a:r>
          </a:p>
          <a:p>
            <a:pPr marL="800100" marR="0" indent="-342900">
              <a:lnSpc>
                <a:spcPct val="107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can significantly improve fraud detection</a:t>
            </a: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reduce false alarms.</a:t>
            </a:r>
          </a:p>
          <a:p>
            <a:pPr marL="800100" marR="0" indent="-342900">
              <a:lnSpc>
                <a:spcPct val="107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best-performing models were </a:t>
            </a: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Neural Networks and Random Forest</a:t>
            </a: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800100" marR="0" indent="-342900">
              <a:lnSpc>
                <a:spcPct val="107000"/>
              </a:lnSpc>
              <a:spcAft>
                <a:spcPts val="800"/>
              </a:spcAft>
              <a:buSzPct val="150000"/>
              <a:buFont typeface="Arial" panose="020B0604020202020204" pitchFamily="34" charset="0"/>
              <a:buChar char="•"/>
            </a:pP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the future, this system can be used </a:t>
            </a:r>
            <a:r>
              <a:rPr lang="en-PK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real-time banking applications</a:t>
            </a:r>
            <a:r>
              <a:rPr lang="en-PK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stop fraud before it happens.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58483-A946-2471-03DD-778302B6C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214" y1="48214" x2="48214" y2="48214"/>
                        <a14:foregroundMark x1="48214" y1="48214" x2="48214" y2="48214"/>
                        <a14:foregroundMark x1="48214" y1="48214" x2="49554" y2="46429"/>
                        <a14:foregroundMark x1="49554" y1="46429" x2="49554" y2="46429"/>
                        <a14:foregroundMark x1="49554" y1="46429" x2="49554" y2="46429"/>
                        <a14:foregroundMark x1="49554" y1="41071" x2="57143" y2="48214"/>
                        <a14:foregroundMark x1="46875" y1="41071" x2="40179" y2="42857"/>
                        <a14:foregroundMark x1="52232" y1="52679" x2="52232" y2="52679"/>
                        <a14:foregroundMark x1="52232" y1="52679" x2="36161" y2="51786"/>
                        <a14:foregroundMark x1="46875" y1="48214" x2="45536" y2="41518"/>
                        <a14:foregroundMark x1="45536" y1="41518" x2="44196" y2="41071"/>
                        <a14:foregroundMark x1="61607" y1="45536" x2="43304" y2="45536"/>
                        <a14:foregroundMark x1="62946" y1="48214" x2="45536" y2="56696"/>
                        <a14:foregroundMark x1="35268" y1="41518" x2="36161" y2="50893"/>
                        <a14:foregroundMark x1="53571" y1="50893" x2="48214" y2="53125"/>
                        <a14:foregroundMark x1="66071" y1="54464" x2="51786" y2="47768"/>
                        <a14:foregroundMark x1="51786" y1="47768" x2="49554" y2="34375"/>
                        <a14:foregroundMark x1="47768" y1="48214" x2="46875" y2="34821"/>
                        <a14:foregroundMark x1="47321" y1="54911" x2="49554" y2="4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980" y="42522"/>
            <a:ext cx="1606471" cy="1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3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D2D803-F0DF-C827-9B6B-187CCD7A3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644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687</Words>
  <Application>Microsoft Office PowerPoint</Application>
  <PresentationFormat>Widescreen</PresentationFormat>
  <Paragraphs>122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toshiba</dc:creator>
  <cp:lastModifiedBy>toshiba</cp:lastModifiedBy>
  <cp:revision>6</cp:revision>
  <dcterms:created xsi:type="dcterms:W3CDTF">2025-02-18T17:49:59Z</dcterms:created>
  <dcterms:modified xsi:type="dcterms:W3CDTF">2025-02-18T20:25:57Z</dcterms:modified>
</cp:coreProperties>
</file>